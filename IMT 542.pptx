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Heading Now 71-78" charset="1" panose="00000000000000000000"/>
      <p:regular r:id="rId25"/>
    </p:embeddedFont>
    <p:embeddedFont>
      <p:font typeface="TT Firs Neue Bold" charset="1" panose="02000803030000020004"/>
      <p:regular r:id="rId26"/>
    </p:embeddedFont>
    <p:embeddedFont>
      <p:font typeface="TT Firs Neue" charset="1" panose="02000503030000020004"/>
      <p:regular r:id="rId28"/>
    </p:embeddedFont>
    <p:embeddedFont>
      <p:font typeface="TT Firs Neue Bold Italics" charset="1" panose="02000803040000090004"/>
      <p:regular r:id="rId33"/>
    </p:embeddedFont>
    <p:embeddedFont>
      <p:font typeface="TT Firs Neue Italics" charset="1" panose="020005030300000900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fonts/font28.fntdata" Type="http://schemas.openxmlformats.org/officeDocument/2006/relationships/font"/><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We'll start with our information story, talk how students use the current existing structure to find courses and make decisions. Then we'll go through how our project intersects with the FAIR principles, introduce our new structure, and go over quality, performance, and security requirements. We'll give a short demo of our website, and discuss next steps in the end.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information story centers around our primary stakeholders which are MSIM students, who want to find courses to take for the next quarter that actually support their learning and career goals. </a:t>
            </a:r>
          </a:p>
          <a:p>
            <a:r>
              <a:rPr lang="en-US"/>
              <a:t/>
            </a:r>
          </a:p>
          <a:p>
            <a:r>
              <a:rPr lang="en-US"/>
              <a:t>Our structure helps users access course information that they typically could only get through asking other students in the cohort and doing extensive research on their own using existing structures that have fragmented data.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existing structure includes multiple sources of information scattered around the </a:t>
            </a:r>
          </a:p>
          <a:p>
            <a:r>
              <a:rPr lang="en-US"/>
              <a:t/>
            </a:r>
          </a:p>
          <a:p>
            <a:r>
              <a:rPr lang="en-US"/>
              <a:t>ischool time schedule</a:t>
            </a:r>
          </a:p>
          <a:p>
            <a:r>
              <a:rPr lang="en-US"/>
              <a:t>reddit threads</a:t>
            </a:r>
          </a:p>
          <a:p>
            <a:r>
              <a:rPr lang="en-US"/>
              <a:t>word of mouth and texting with friends</a:t>
            </a:r>
          </a:p>
          <a:p>
            <a:r>
              <a:rPr lang="en-US"/>
              <a:t>myplan course descriptions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here is a diagram showing how there's a lot of back and forth between online searches, asking friends, and browsing the uw catalogue before a decision can be made. </a:t>
            </a:r>
          </a:p>
          <a:p>
            <a:r>
              <a:rPr lang="en-US"/>
              <a:t/>
            </a:r>
          </a:p>
          <a:p>
            <a:r>
              <a:rPr lang="en-US"/>
              <a:t>what we want is for students to get from their career idea to their course decisions faster.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are the areas of our improved structure that align with the FAIR guiding principles.</a:t>
            </a:r>
          </a:p>
          <a:p>
            <a:r>
              <a:rPr lang="en-US"/>
              <a:t/>
            </a:r>
          </a:p>
          <a:p>
            <a:r>
              <a:rPr lang="en-US"/>
              <a:t>Findable</a:t>
            </a:r>
          </a:p>
          <a:p>
            <a:r>
              <a:rPr lang="en-US"/>
              <a:t>With findable, our improved structure aggregates all the course information under one course ID so all the relevant information is easy to locate </a:t>
            </a:r>
          </a:p>
          <a:p>
            <a:r>
              <a:rPr lang="en-US"/>
              <a:t/>
            </a:r>
          </a:p>
          <a:p>
            <a:r>
              <a:rPr lang="en-US"/>
              <a:t>Accessible</a:t>
            </a:r>
          </a:p>
          <a:p>
            <a:r>
              <a:rPr lang="en-US"/>
              <a:t>Students access information through a web-based interface</a:t>
            </a:r>
          </a:p>
          <a:p>
            <a:r>
              <a:rPr lang="en-US"/>
              <a:t/>
            </a:r>
          </a:p>
          <a:p>
            <a:r>
              <a:rPr lang="en-US"/>
              <a:t>Interoperable</a:t>
            </a:r>
          </a:p>
          <a:p>
            <a:r>
              <a:rPr lang="en-US"/>
              <a:t>Our tool allows users to input course reviews which will add to the existing data in the system.</a:t>
            </a:r>
          </a:p>
          <a:p>
            <a:r>
              <a:rPr lang="en-US"/>
              <a:t/>
            </a:r>
          </a:p>
          <a:p>
            <a:r>
              <a:rPr lang="en-US"/>
              <a:t>Reusable</a:t>
            </a:r>
          </a:p>
          <a:p>
            <a:r>
              <a:rPr lang="en-US"/>
              <a:t>Students can download the course data as a JSON for future reference. </a:t>
            </a:r>
          </a:p>
          <a:p>
            <a:r>
              <a:rPr lang="en-US"/>
              <a:t/>
            </a:r>
          </a:p>
          <a:p>
            <a:r>
              <a:rPr lang="en-US"/>
              <a:t>We do have a current technical limitation with the reusable principle. right now our structure only supports data used in memory, and that data needs to be manually updated. This is an area we hope to automate in the future.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So here is our full-stack structure.</a:t>
            </a:r>
          </a:p>
          <a:p>
            <a:r>
              <a:rPr lang="en-US"/>
              <a:t>The frontend is built with React and Vite, which handles the user interface and search experience.</a:t>
            </a:r>
          </a:p>
          <a:p>
            <a:r>
              <a:rPr lang="en-US"/>
              <a:t/>
            </a:r>
          </a:p>
          <a:p>
            <a:r>
              <a:rPr lang="en-US"/>
              <a:t>The backend is built with a Flask API. This layer connects the frontend to our data and handles requests from users, such as searching for a course or retrieving course details.</a:t>
            </a:r>
          </a:p>
          <a:p>
            <a:r>
              <a:rPr lang="en-US"/>
              <a:t/>
            </a:r>
          </a:p>
          <a:p>
            <a:r>
              <a:rPr lang="en-US"/>
              <a:t>For the data layer, we use two main sources: course catalog metadata and student review data, and both store as json. </a:t>
            </a:r>
          </a:p>
          <a:p>
            <a:r>
              <a:rPr lang="en-US"/>
              <a:t/>
            </a:r>
          </a:p>
          <a:p>
            <a:r>
              <a:rPr lang="en-US"/>
              <a:t>The course catalog gives us structured information such as course ID, title, credits, and so on. The student review data adds the student perspective, such as workload, skill applicability, , and additional insights.</a:t>
            </a:r>
          </a:p>
          <a:p>
            <a:r>
              <a:rPr lang="en-US"/>
              <a:t/>
            </a:r>
          </a:p>
          <a:p>
            <a:r>
              <a:rPr lang="en-US"/>
              <a:t>So overall, the new structure makes the system easier to maintain and expand.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the backend, the first main dataset is the course information.</a:t>
            </a:r>
          </a:p>
          <a:p>
            <a:r>
              <a:rPr lang="en-US"/>
              <a:t/>
            </a:r>
          </a:p>
          <a:p>
            <a:r>
              <a:rPr lang="en-US"/>
              <a:t>We collected them from the UW ischool course catalog page. The goal was to turn course information from a webpage into a structured format.</a:t>
            </a:r>
          </a:p>
          <a:p>
            <a:r>
              <a:rPr lang="en-US"/>
              <a:t/>
            </a:r>
          </a:p>
          <a:p>
            <a:r>
              <a:rPr lang="en-US"/>
              <a:t>On the left side, this is an example of the Python scraping logic. We used BeautifulSoup to parse the HTML</a:t>
            </a:r>
          </a:p>
          <a:p>
            <a:r>
              <a:rPr lang="en-US"/>
              <a:t/>
            </a:r>
          </a:p>
          <a:p>
            <a:r>
              <a:rPr lang="en-US"/>
              <a:t>On the right side, you can see the result after cleaning and structuring the data into JSON format. Each course becomes one object with fields.</a:t>
            </a:r>
          </a:p>
          <a:p>
            <a:r>
              <a:rPr lang="en-US"/>
              <a:t/>
            </a:r>
          </a:p>
          <a:p>
            <a:r>
              <a:rPr lang="en-US"/>
              <a:t>This structure makes the course data easier to search, filter, and display in the frontend. </a:t>
            </a:r>
          </a:p>
          <a:p>
            <a:r>
              <a:rPr lang="en-US"/>
              <a:t/>
            </a:r>
          </a:p>
          <a:p>
            <a:r>
              <a:rPr lang="en-US"/>
              <a:t/>
            </a:r>
          </a:p>
          <a:p>
            <a:r>
              <a:rPr lang="en-US"/>
              <a:t/>
            </a:r>
          </a:p>
          <a:p>
            <a:r>
              <a:rPr lang="en-US"/>
              <a:t>//</a:t>
            </a:r>
          </a:p>
          <a:p>
            <a:r>
              <a:rPr lang="en-US"/>
              <a:t>&lt;b&gt; tag = usually bold text. It may contain important labels, but it is mainly for formatting.</a:t>
            </a:r>
          </a:p>
          <a:p>
            <a:r>
              <a:rPr lang="en-US"/>
              <a:t>&lt;p&gt; tag = paragraph text. It may contain descriptions, but not all useful information is always inside &lt;p&gt;.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second dataset is the student review data.</a:t>
            </a:r>
          </a:p>
          <a:p>
            <a:r>
              <a:rPr lang="en-US"/>
              <a:t>We created a survey to collect student feedback about MSIM courses.</a:t>
            </a:r>
          </a:p>
          <a:p>
            <a:r>
              <a:rPr lang="en-US"/>
              <a:t/>
            </a:r>
          </a:p>
          <a:p>
            <a:r>
              <a:rPr lang="en-US"/>
              <a:t>After collecting the responses, we converted them into structured JSON data as well. This allows each review to be connected back to a course.</a:t>
            </a:r>
          </a:p>
          <a:p>
            <a:r>
              <a:rPr lang="en-US"/>
              <a:t/>
            </a:r>
          </a:p>
          <a:p>
            <a:r>
              <a:rPr lang="en-US"/>
              <a:t>By combining course catalog metadata with student review data, our system gives users both the official information and the peer perspective.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won’t go through every row in detail, but these two  tables show our backend testing plan. We mainly focused on two areas: functional testing and data quality testing. For functional testing, we tested whether users can search by course ID, course title, and even different casing or spacing. This helps make sure the search experience still works even when users do not type the exact format.</a:t>
            </a:r>
          </a:p>
          <a:p>
            <a:r>
              <a:rPr lang="en-US"/>
              <a:t/>
            </a:r>
          </a:p>
          <a:p>
            <a:r>
              <a:rPr lang="en-US"/>
              <a:t>For data quality, we checked whether the JSON files load correctly, whether course IDs are unique, and whether reviews can be connected to the right course. We also considered missing fields, since some optional survey questions may be left blank. The goal is to make sure the system can still display the available data instead of breaking.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Besides testing functionality and data quality, we also considered basic access control and privacy. Since this system is designed specifically for UW students, users should log in with their UW email. This helps make sure the feedback comes from the target user group. </a:t>
            </a:r>
          </a:p>
          <a:p>
            <a:r>
              <a:rPr lang="en-US"/>
              <a:t/>
            </a:r>
          </a:p>
          <a:p>
            <a:r>
              <a:rPr lang="en-US"/>
              <a:t>At the same time, responses  remain anonymous, so students can feel comfortable sharing honest course feedback.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we want students to be able to ask questions in plain language as well as have their open-ended feedback better support the course recommended</a:t>
            </a:r>
          </a:p>
          <a:p>
            <a:r>
              <a:rPr lang="en-US"/>
              <a:t/>
            </a:r>
          </a:p>
          <a:p>
            <a:r>
              <a:rPr lang="en-US"/>
              <a:t>2. We want to develop our databases further to better store the existing data and student reviews</a:t>
            </a:r>
          </a:p>
          <a:p>
            <a:r>
              <a:rPr lang="en-US"/>
              <a:t/>
            </a:r>
          </a:p>
          <a:p>
            <a:r>
              <a:rPr lang="en-US"/>
              <a:t>3. We want to automate the system so that when new reviews get added to the database they are immediately accessible through searches.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1.jpe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png" Type="http://schemas.openxmlformats.org/officeDocument/2006/relationships/image"/><Relationship Id="rId12" Target="../media/image33.png" Type="http://schemas.openxmlformats.org/officeDocument/2006/relationships/image"/><Relationship Id="rId13" Target="../media/image34.svg" Type="http://schemas.openxmlformats.org/officeDocument/2006/relationships/image"/><Relationship Id="rId14" Target="../media/image35.png" Type="http://schemas.openxmlformats.org/officeDocument/2006/relationships/image"/><Relationship Id="rId15" Target="../media/image36.svg" Type="http://schemas.openxmlformats.org/officeDocument/2006/relationships/image"/><Relationship Id="rId2" Target="../notesSlides/notesSlide4.xml" Type="http://schemas.openxmlformats.org/officeDocument/2006/relationships/notesSlide"/><Relationship Id="rId3" Target="../media/image24.pn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jpeg" Type="http://schemas.openxmlformats.org/officeDocument/2006/relationships/image"/><Relationship Id="rId9" Target="../media/image3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svg" Type="http://schemas.openxmlformats.org/officeDocument/2006/relationships/image"/><Relationship Id="rId2" Target="../notesSlides/notesSlide6.xml" Type="http://schemas.openxmlformats.org/officeDocument/2006/relationships/notesSlide"/><Relationship Id="rId3" Target="../media/image38.png" Type="http://schemas.openxmlformats.org/officeDocument/2006/relationships/image"/><Relationship Id="rId4" Target="../media/image39.sv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 Id="rId7" Target="../media/image42.png" Type="http://schemas.openxmlformats.org/officeDocument/2006/relationships/image"/><Relationship Id="rId8" Target="../media/image43.svg" Type="http://schemas.openxmlformats.org/officeDocument/2006/relationships/image"/><Relationship Id="rId9" Target="../media/image4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png" Type="http://schemas.openxmlformats.org/officeDocument/2006/relationships/image"/><Relationship Id="rId7" Target="../media/image42.png" Type="http://schemas.openxmlformats.org/officeDocument/2006/relationships/image"/><Relationship Id="rId8" Target="../media/image4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51.png" Type="http://schemas.openxmlformats.org/officeDocument/2006/relationships/image"/><Relationship Id="rId9" Target="../media/image5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0.svg" Type="http://schemas.openxmlformats.org/officeDocument/2006/relationships/image"/><Relationship Id="rId11" Target="../media/image61.png" Type="http://schemas.openxmlformats.org/officeDocument/2006/relationships/image"/><Relationship Id="rId12" Target="../media/image62.svg" Type="http://schemas.openxmlformats.org/officeDocument/2006/relationships/image"/><Relationship Id="rId2" Target="../notesSlides/notesSlide7.xml" Type="http://schemas.openxmlformats.org/officeDocument/2006/relationships/notesSlide"/><Relationship Id="rId3" Target="../media/image53.png" Type="http://schemas.openxmlformats.org/officeDocument/2006/relationships/image"/><Relationship Id="rId4" Target="../media/image5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57.png" Type="http://schemas.openxmlformats.org/officeDocument/2006/relationships/image"/><Relationship Id="rId8" Target="../media/image58.svg" Type="http://schemas.openxmlformats.org/officeDocument/2006/relationships/image"/><Relationship Id="rId9" Target="../media/image5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embeddings/oleObject1.bin" Type="http://schemas.openxmlformats.org/officeDocument/2006/relationships/oleObject"/><Relationship Id="rId2" Target="../notesSlides/notesSlide8.xml" Type="http://schemas.openxmlformats.org/officeDocument/2006/relationships/notesSlide"/><Relationship Id="rId3" Target="../media/image53.png" Type="http://schemas.openxmlformats.org/officeDocument/2006/relationships/image"/><Relationship Id="rId4" Target="../media/image5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63.pn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11" Target="../embeddings/oleObject2.bin" Type="http://schemas.openxmlformats.org/officeDocument/2006/relationships/oleObject"/><Relationship Id="rId2" Target="../notesSlides/notesSlide9.xml" Type="http://schemas.openxmlformats.org/officeDocument/2006/relationships/notesSlide"/><Relationship Id="rId3" Target="../media/image53.png" Type="http://schemas.openxmlformats.org/officeDocument/2006/relationships/image"/><Relationship Id="rId4" Target="../media/image54.svg" Type="http://schemas.openxmlformats.org/officeDocument/2006/relationships/image"/><Relationship Id="rId5" Target="../media/image65.pn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svg" Type="http://schemas.openxmlformats.org/officeDocument/2006/relationships/image"/><Relationship Id="rId11" Target="../media/image73.png" Type="http://schemas.openxmlformats.org/officeDocument/2006/relationships/image"/><Relationship Id="rId12" Target="../media/image74.png" Type="http://schemas.openxmlformats.org/officeDocument/2006/relationships/image"/><Relationship Id="rId2" Target="../notesSlides/notesSlide10.xml" Type="http://schemas.openxmlformats.org/officeDocument/2006/relationships/notesSlide"/><Relationship Id="rId3" Target="../media/image67.png" Type="http://schemas.openxmlformats.org/officeDocument/2006/relationships/image"/><Relationship Id="rId4" Target="../media/image68.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7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svg" Type="http://schemas.openxmlformats.org/officeDocument/2006/relationships/image"/><Relationship Id="rId11" Target="../media/image75.png" Type="http://schemas.openxmlformats.org/officeDocument/2006/relationships/image"/><Relationship Id="rId12" Target="../media/image76.svg" Type="http://schemas.openxmlformats.org/officeDocument/2006/relationships/image"/><Relationship Id="rId13" Target="../media/image77.png" Type="http://schemas.openxmlformats.org/officeDocument/2006/relationships/image"/><Relationship Id="rId14" Target="../media/image78.svg" Type="http://schemas.openxmlformats.org/officeDocument/2006/relationships/image"/><Relationship Id="rId2" Target="../notesSlides/notesSlide11.xml" Type="http://schemas.openxmlformats.org/officeDocument/2006/relationships/notesSlide"/><Relationship Id="rId3" Target="../media/image67.png" Type="http://schemas.openxmlformats.org/officeDocument/2006/relationships/image"/><Relationship Id="rId4" Target="../media/image68.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7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11" Target="../media/image82.svg" Type="http://schemas.openxmlformats.org/officeDocument/2006/relationships/image"/><Relationship Id="rId12" Target="../media/image83.png" Type="http://schemas.openxmlformats.org/officeDocument/2006/relationships/image"/><Relationship Id="rId13" Target="../media/image84.svg" Type="http://schemas.openxmlformats.org/officeDocument/2006/relationships/image"/><Relationship Id="rId14" Target="../media/image85.png" Type="http://schemas.openxmlformats.org/officeDocument/2006/relationships/image"/><Relationship Id="rId15" Target="../media/image86.svg" Type="http://schemas.openxmlformats.org/officeDocument/2006/relationships/image"/><Relationship Id="rId16" Target="../media/image87.png" Type="http://schemas.openxmlformats.org/officeDocument/2006/relationships/image"/><Relationship Id="rId17" Target="../media/image88.svg" Type="http://schemas.openxmlformats.org/officeDocument/2006/relationships/image"/><Relationship Id="rId2" Target="../media/image79.png" Type="http://schemas.openxmlformats.org/officeDocument/2006/relationships/image"/><Relationship Id="rId3" Target="../media/image80.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8.png" Type="http://schemas.openxmlformats.org/officeDocument/2006/relationships/image"/><Relationship Id="rId9" Target="../media/image4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0.svg" Type="http://schemas.openxmlformats.org/officeDocument/2006/relationships/image"/><Relationship Id="rId11" Target="../media/image75.png" Type="http://schemas.openxmlformats.org/officeDocument/2006/relationships/image"/><Relationship Id="rId12" Target="../media/image76.svg" Type="http://schemas.openxmlformats.org/officeDocument/2006/relationships/image"/><Relationship Id="rId13" Target="../media/image77.png" Type="http://schemas.openxmlformats.org/officeDocument/2006/relationships/image"/><Relationship Id="rId14" Target="../media/image78.svg" Type="http://schemas.openxmlformats.org/officeDocument/2006/relationships/image"/><Relationship Id="rId15" Target="../media/image89.png" Type="http://schemas.openxmlformats.org/officeDocument/2006/relationships/image"/><Relationship Id="rId16" Target="../media/image90.svg" Type="http://schemas.openxmlformats.org/officeDocument/2006/relationships/image"/><Relationship Id="rId2" Target="../notesSlides/notesSlide12.xml" Type="http://schemas.openxmlformats.org/officeDocument/2006/relationships/notesSlide"/><Relationship Id="rId3" Target="../media/image53.png" Type="http://schemas.openxmlformats.org/officeDocument/2006/relationships/image"/><Relationship Id="rId4" Target="../media/image5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57.png" Type="http://schemas.openxmlformats.org/officeDocument/2006/relationships/image"/><Relationship Id="rId8" Target="../media/image58.svg" Type="http://schemas.openxmlformats.org/officeDocument/2006/relationships/image"/><Relationship Id="rId9" Target="../media/image5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11" Target="../media/image82.svg" Type="http://schemas.openxmlformats.org/officeDocument/2006/relationships/image"/><Relationship Id="rId12" Target="../media/image83.png" Type="http://schemas.openxmlformats.org/officeDocument/2006/relationships/image"/><Relationship Id="rId13" Target="../media/image84.svg" Type="http://schemas.openxmlformats.org/officeDocument/2006/relationships/image"/><Relationship Id="rId14" Target="../media/image85.png" Type="http://schemas.openxmlformats.org/officeDocument/2006/relationships/image"/><Relationship Id="rId15" Target="../media/image86.svg" Type="http://schemas.openxmlformats.org/officeDocument/2006/relationships/image"/><Relationship Id="rId16" Target="../media/image87.png" Type="http://schemas.openxmlformats.org/officeDocument/2006/relationships/image"/><Relationship Id="rId17" Target="../media/image88.svg" Type="http://schemas.openxmlformats.org/officeDocument/2006/relationships/image"/><Relationship Id="rId2" Target="../media/image79.png" Type="http://schemas.openxmlformats.org/officeDocument/2006/relationships/image"/><Relationship Id="rId3" Target="../media/image80.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8.png" Type="http://schemas.openxmlformats.org/officeDocument/2006/relationships/image"/><Relationship Id="rId9" Target="../media/image4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01222" y="1404484"/>
            <a:ext cx="4722869" cy="4114800"/>
          </a:xfrm>
          <a:custGeom>
            <a:avLst/>
            <a:gdLst/>
            <a:ahLst/>
            <a:cxnLst/>
            <a:rect r="r" b="b" t="t" l="l"/>
            <a:pathLst>
              <a:path h="4114800" w="4722869">
                <a:moveTo>
                  <a:pt x="0" y="0"/>
                </a:moveTo>
                <a:lnTo>
                  <a:pt x="4722869" y="0"/>
                </a:lnTo>
                <a:lnTo>
                  <a:pt x="472286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3080341">
            <a:off x="8690894" y="3470567"/>
            <a:ext cx="5648046" cy="5676428"/>
          </a:xfrm>
          <a:custGeom>
            <a:avLst/>
            <a:gdLst/>
            <a:ahLst/>
            <a:cxnLst/>
            <a:rect r="r" b="b" t="t" l="l"/>
            <a:pathLst>
              <a:path h="5676428" w="5648046">
                <a:moveTo>
                  <a:pt x="0" y="0"/>
                </a:moveTo>
                <a:lnTo>
                  <a:pt x="5648046" y="0"/>
                </a:lnTo>
                <a:lnTo>
                  <a:pt x="5648046" y="5676428"/>
                </a:lnTo>
                <a:lnTo>
                  <a:pt x="0" y="56764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9496497" y="2955924"/>
            <a:ext cx="3950208" cy="4114800"/>
          </a:xfrm>
          <a:custGeom>
            <a:avLst/>
            <a:gdLst/>
            <a:ahLst/>
            <a:cxnLst/>
            <a:rect r="r" b="b" t="t" l="l"/>
            <a:pathLst>
              <a:path h="4114800" w="3950208">
                <a:moveTo>
                  <a:pt x="0" y="0"/>
                </a:moveTo>
                <a:lnTo>
                  <a:pt x="3950208" y="0"/>
                </a:lnTo>
                <a:lnTo>
                  <a:pt x="395020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3056459" y="5345589"/>
            <a:ext cx="3126807" cy="3450270"/>
          </a:xfrm>
          <a:custGeom>
            <a:avLst/>
            <a:gdLst/>
            <a:ahLst/>
            <a:cxnLst/>
            <a:rect r="r" b="b" t="t" l="l"/>
            <a:pathLst>
              <a:path h="3450270" w="3126807">
                <a:moveTo>
                  <a:pt x="0" y="0"/>
                </a:moveTo>
                <a:lnTo>
                  <a:pt x="3126806" y="0"/>
                </a:lnTo>
                <a:lnTo>
                  <a:pt x="3126806" y="3450270"/>
                </a:lnTo>
                <a:lnTo>
                  <a:pt x="0" y="34502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9589513" y="2583305"/>
            <a:ext cx="1226751" cy="663979"/>
          </a:xfrm>
          <a:custGeom>
            <a:avLst/>
            <a:gdLst/>
            <a:ahLst/>
            <a:cxnLst/>
            <a:rect r="r" b="b" t="t" l="l"/>
            <a:pathLst>
              <a:path h="663979" w="1226751">
                <a:moveTo>
                  <a:pt x="0" y="0"/>
                </a:moveTo>
                <a:lnTo>
                  <a:pt x="1226751" y="0"/>
                </a:lnTo>
                <a:lnTo>
                  <a:pt x="1226751" y="663979"/>
                </a:lnTo>
                <a:lnTo>
                  <a:pt x="0" y="66397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15331669" y="4619519"/>
            <a:ext cx="851597" cy="571279"/>
          </a:xfrm>
          <a:custGeom>
            <a:avLst/>
            <a:gdLst/>
            <a:ahLst/>
            <a:cxnLst/>
            <a:rect r="r" b="b" t="t" l="l"/>
            <a:pathLst>
              <a:path h="571279" w="851597">
                <a:moveTo>
                  <a:pt x="0" y="0"/>
                </a:moveTo>
                <a:lnTo>
                  <a:pt x="851596" y="0"/>
                </a:lnTo>
                <a:lnTo>
                  <a:pt x="851596" y="571279"/>
                </a:lnTo>
                <a:lnTo>
                  <a:pt x="0" y="5712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9429418" y="7937840"/>
            <a:ext cx="1546940" cy="633388"/>
          </a:xfrm>
          <a:custGeom>
            <a:avLst/>
            <a:gdLst/>
            <a:ahLst/>
            <a:cxnLst/>
            <a:rect r="r" b="b" t="t" l="l"/>
            <a:pathLst>
              <a:path h="633388" w="1546940">
                <a:moveTo>
                  <a:pt x="0" y="0"/>
                </a:moveTo>
                <a:lnTo>
                  <a:pt x="1546940" y="0"/>
                </a:lnTo>
                <a:lnTo>
                  <a:pt x="1546940" y="633388"/>
                </a:lnTo>
                <a:lnTo>
                  <a:pt x="0" y="633388"/>
                </a:lnTo>
                <a:lnTo>
                  <a:pt x="0" y="0"/>
                </a:lnTo>
                <a:close/>
              </a:path>
            </a:pathLst>
          </a:custGeom>
          <a:blipFill>
            <a:blip r:embed="rId15">
              <a:extLst>
                <a:ext uri="{96DAC541-7B7A-43D3-8B79-37D633B846F1}">
                  <asvg:svgBlip xmlns:asvg="http://schemas.microsoft.com/office/drawing/2016/SVG/main" r:embed="rId16"/>
                </a:ext>
              </a:extLst>
            </a:blip>
            <a:stretch>
              <a:fillRect l="0" t="0" r="-86930" b="-328011"/>
            </a:stretch>
          </a:blipFill>
        </p:spPr>
      </p:sp>
      <p:sp>
        <p:nvSpPr>
          <p:cNvPr name="TextBox 9" id="9"/>
          <p:cNvSpPr txBox="true"/>
          <p:nvPr/>
        </p:nvSpPr>
        <p:spPr>
          <a:xfrm rot="0">
            <a:off x="1431883" y="3397147"/>
            <a:ext cx="7275587" cy="2406644"/>
          </a:xfrm>
          <a:prstGeom prst="rect">
            <a:avLst/>
          </a:prstGeom>
        </p:spPr>
        <p:txBody>
          <a:bodyPr anchor="t" rtlCol="false" tIns="0" lIns="0" bIns="0" rIns="0">
            <a:spAutoFit/>
          </a:bodyPr>
          <a:lstStyle/>
          <a:p>
            <a:pPr algn="l">
              <a:lnSpc>
                <a:spcPts val="8499"/>
              </a:lnSpc>
            </a:pPr>
            <a:r>
              <a:rPr lang="en-US" sz="8499" spc="-467">
                <a:solidFill>
                  <a:srgbClr val="3E3F54"/>
                </a:solidFill>
                <a:latin typeface="Heading Now 71-78"/>
                <a:ea typeface="Heading Now 71-78"/>
                <a:cs typeface="Heading Now 71-78"/>
                <a:sym typeface="Heading Now 71-78"/>
              </a:rPr>
              <a:t>MSIM</a:t>
            </a:r>
          </a:p>
          <a:p>
            <a:pPr algn="l">
              <a:lnSpc>
                <a:spcPts val="8499"/>
              </a:lnSpc>
            </a:pPr>
            <a:r>
              <a:rPr lang="en-US" sz="8499" spc="-467">
                <a:solidFill>
                  <a:srgbClr val="3E3F54"/>
                </a:solidFill>
                <a:latin typeface="Heading Now 71-78"/>
                <a:ea typeface="Heading Now 71-78"/>
                <a:cs typeface="Heading Now 71-78"/>
                <a:sym typeface="Heading Now 71-78"/>
              </a:rPr>
              <a:t>Course Hub</a:t>
            </a:r>
          </a:p>
        </p:txBody>
      </p:sp>
      <p:sp>
        <p:nvSpPr>
          <p:cNvPr name="TextBox 10" id="10"/>
          <p:cNvSpPr txBox="true"/>
          <p:nvPr/>
        </p:nvSpPr>
        <p:spPr>
          <a:xfrm rot="0">
            <a:off x="1550636" y="6409597"/>
            <a:ext cx="4535405" cy="405765"/>
          </a:xfrm>
          <a:prstGeom prst="rect">
            <a:avLst/>
          </a:prstGeom>
        </p:spPr>
        <p:txBody>
          <a:bodyPr anchor="t" rtlCol="false" tIns="0" lIns="0" bIns="0" rIns="0">
            <a:spAutoFit/>
          </a:bodyPr>
          <a:lstStyle/>
          <a:p>
            <a:pPr algn="l">
              <a:lnSpc>
                <a:spcPts val="3359"/>
              </a:lnSpc>
            </a:pPr>
            <a:r>
              <a:rPr lang="en-US" sz="2400" b="true">
                <a:solidFill>
                  <a:srgbClr val="3E3F54"/>
                </a:solidFill>
                <a:latin typeface="TT Firs Neue Bold"/>
                <a:ea typeface="TT Firs Neue Bold"/>
                <a:cs typeface="TT Firs Neue Bold"/>
                <a:sym typeface="TT Firs Neue Bold"/>
              </a:rPr>
              <a:t>Emily &amp; Lavender</a:t>
            </a:r>
          </a:p>
        </p:txBody>
      </p:sp>
      <p:sp>
        <p:nvSpPr>
          <p:cNvPr name="Freeform 11" id="11"/>
          <p:cNvSpPr/>
          <p:nvPr/>
        </p:nvSpPr>
        <p:spPr>
          <a:xfrm flipH="false" flipV="false" rot="0">
            <a:off x="13446705" y="2266611"/>
            <a:ext cx="1546940" cy="633388"/>
          </a:xfrm>
          <a:custGeom>
            <a:avLst/>
            <a:gdLst/>
            <a:ahLst/>
            <a:cxnLst/>
            <a:rect r="r" b="b" t="t" l="l"/>
            <a:pathLst>
              <a:path h="633388" w="1546940">
                <a:moveTo>
                  <a:pt x="0" y="0"/>
                </a:moveTo>
                <a:lnTo>
                  <a:pt x="1546940" y="0"/>
                </a:lnTo>
                <a:lnTo>
                  <a:pt x="1546940" y="633388"/>
                </a:lnTo>
                <a:lnTo>
                  <a:pt x="0" y="633388"/>
                </a:lnTo>
                <a:lnTo>
                  <a:pt x="0" y="0"/>
                </a:lnTo>
                <a:close/>
              </a:path>
            </a:pathLst>
          </a:custGeom>
          <a:blipFill>
            <a:blip r:embed="rId15">
              <a:extLst>
                <a:ext uri="{96DAC541-7B7A-43D3-8B79-37D633B846F1}">
                  <asvg:svgBlip xmlns:asvg="http://schemas.microsoft.com/office/drawing/2016/SVG/main" r:embed="rId16"/>
                </a:ext>
              </a:extLst>
            </a:blip>
            <a:stretch>
              <a:fillRect l="0" t="0" r="-86930" b="-328011"/>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95607" y="4143517"/>
            <a:ext cx="5207576" cy="4302760"/>
          </a:xfrm>
          <a:custGeom>
            <a:avLst/>
            <a:gdLst/>
            <a:ahLst/>
            <a:cxnLst/>
            <a:rect r="r" b="b" t="t" l="l"/>
            <a:pathLst>
              <a:path h="4302760" w="5207576">
                <a:moveTo>
                  <a:pt x="0" y="0"/>
                </a:moveTo>
                <a:lnTo>
                  <a:pt x="5207576" y="0"/>
                </a:lnTo>
                <a:lnTo>
                  <a:pt x="5207576" y="4302760"/>
                </a:lnTo>
                <a:lnTo>
                  <a:pt x="0" y="43027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2895841" y="4926082"/>
            <a:ext cx="3007109" cy="3553452"/>
          </a:xfrm>
          <a:custGeom>
            <a:avLst/>
            <a:gdLst/>
            <a:ahLst/>
            <a:cxnLst/>
            <a:rect r="r" b="b" t="t" l="l"/>
            <a:pathLst>
              <a:path h="3553452" w="3007109">
                <a:moveTo>
                  <a:pt x="0" y="0"/>
                </a:moveTo>
                <a:lnTo>
                  <a:pt x="3007109" y="0"/>
                </a:lnTo>
                <a:lnTo>
                  <a:pt x="3007109" y="3553453"/>
                </a:lnTo>
                <a:lnTo>
                  <a:pt x="0" y="35534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1795607" y="4926082"/>
            <a:ext cx="1505465" cy="1479119"/>
          </a:xfrm>
          <a:custGeom>
            <a:avLst/>
            <a:gdLst/>
            <a:ahLst/>
            <a:cxnLst/>
            <a:rect r="r" b="b" t="t" l="l"/>
            <a:pathLst>
              <a:path h="1479119" w="1505465">
                <a:moveTo>
                  <a:pt x="0" y="0"/>
                </a:moveTo>
                <a:lnTo>
                  <a:pt x="1505465" y="0"/>
                </a:lnTo>
                <a:lnTo>
                  <a:pt x="1505465" y="1479120"/>
                </a:lnTo>
                <a:lnTo>
                  <a:pt x="0" y="14791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1795607" y="1962305"/>
            <a:ext cx="6658648" cy="1068070"/>
          </a:xfrm>
          <a:prstGeom prst="rect">
            <a:avLst/>
          </a:prstGeom>
        </p:spPr>
        <p:txBody>
          <a:bodyPr anchor="t" rtlCol="false" tIns="0" lIns="0" bIns="0" rIns="0">
            <a:spAutoFit/>
          </a:bodyPr>
          <a:lstStyle/>
          <a:p>
            <a:pPr algn="l">
              <a:lnSpc>
                <a:spcPts val="6800"/>
              </a:lnSpc>
            </a:pPr>
            <a:r>
              <a:rPr lang="en-US" sz="6800" spc="-374">
                <a:solidFill>
                  <a:srgbClr val="3E3F54"/>
                </a:solidFill>
                <a:latin typeface="Heading Now 71-78"/>
                <a:ea typeface="Heading Now 71-78"/>
                <a:cs typeface="Heading Now 71-78"/>
                <a:sym typeface="Heading Now 71-78"/>
              </a:rPr>
              <a:t>Agenda</a:t>
            </a:r>
          </a:p>
        </p:txBody>
      </p:sp>
      <p:grpSp>
        <p:nvGrpSpPr>
          <p:cNvPr name="Group 6" id="6"/>
          <p:cNvGrpSpPr/>
          <p:nvPr/>
        </p:nvGrpSpPr>
        <p:grpSpPr>
          <a:xfrm rot="0">
            <a:off x="8673940" y="898860"/>
            <a:ext cx="8303588" cy="7547417"/>
            <a:chOff x="0" y="0"/>
            <a:chExt cx="2186953" cy="1987797"/>
          </a:xfrm>
        </p:grpSpPr>
        <p:sp>
          <p:nvSpPr>
            <p:cNvPr name="Freeform 7" id="7"/>
            <p:cNvSpPr/>
            <p:nvPr/>
          </p:nvSpPr>
          <p:spPr>
            <a:xfrm flipH="false" flipV="false" rot="0">
              <a:off x="0" y="0"/>
              <a:ext cx="2186953" cy="1987797"/>
            </a:xfrm>
            <a:custGeom>
              <a:avLst/>
              <a:gdLst/>
              <a:ahLst/>
              <a:cxnLst/>
              <a:rect r="r" b="b" t="t" l="l"/>
              <a:pathLst>
                <a:path h="1987797" w="2186953">
                  <a:moveTo>
                    <a:pt x="47550" y="0"/>
                  </a:moveTo>
                  <a:lnTo>
                    <a:pt x="2139403" y="0"/>
                  </a:lnTo>
                  <a:cubicBezTo>
                    <a:pt x="2165664" y="0"/>
                    <a:pt x="2186953" y="21289"/>
                    <a:pt x="2186953" y="47550"/>
                  </a:cubicBezTo>
                  <a:lnTo>
                    <a:pt x="2186953" y="1940247"/>
                  </a:lnTo>
                  <a:cubicBezTo>
                    <a:pt x="2186953" y="1966508"/>
                    <a:pt x="2165664" y="1987797"/>
                    <a:pt x="2139403" y="1987797"/>
                  </a:cubicBezTo>
                  <a:lnTo>
                    <a:pt x="47550" y="1987797"/>
                  </a:lnTo>
                  <a:cubicBezTo>
                    <a:pt x="21289" y="1987797"/>
                    <a:pt x="0" y="1966508"/>
                    <a:pt x="0" y="1940247"/>
                  </a:cubicBezTo>
                  <a:lnTo>
                    <a:pt x="0" y="47550"/>
                  </a:lnTo>
                  <a:cubicBezTo>
                    <a:pt x="0" y="21289"/>
                    <a:pt x="21289" y="0"/>
                    <a:pt x="47550" y="0"/>
                  </a:cubicBezTo>
                  <a:close/>
                </a:path>
              </a:pathLst>
            </a:custGeom>
            <a:solidFill>
              <a:srgbClr val="FBC76F"/>
            </a:solidFill>
          </p:spPr>
        </p:sp>
        <p:sp>
          <p:nvSpPr>
            <p:cNvPr name="TextBox 8" id="8"/>
            <p:cNvSpPr txBox="true"/>
            <p:nvPr/>
          </p:nvSpPr>
          <p:spPr>
            <a:xfrm>
              <a:off x="0" y="-38100"/>
              <a:ext cx="2186953" cy="202589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9960643" y="1243153"/>
            <a:ext cx="7720525" cy="448310"/>
          </a:xfrm>
          <a:prstGeom prst="rect">
            <a:avLst/>
          </a:prstGeom>
        </p:spPr>
        <p:txBody>
          <a:bodyPr anchor="t" rtlCol="false" tIns="0" lIns="0" bIns="0" rIns="0">
            <a:spAutoFit/>
          </a:bodyPr>
          <a:lstStyle/>
          <a:p>
            <a:pPr algn="l">
              <a:lnSpc>
                <a:spcPts val="3640"/>
              </a:lnSpc>
            </a:pPr>
            <a:r>
              <a:rPr lang="en-US" sz="2600">
                <a:solidFill>
                  <a:srgbClr val="3E3F54"/>
                </a:solidFill>
                <a:latin typeface="TT Firs Neue"/>
                <a:ea typeface="TT Firs Neue"/>
                <a:cs typeface="TT Firs Neue"/>
                <a:sym typeface="TT Firs Neue"/>
              </a:rPr>
              <a:t>Information Story</a:t>
            </a:r>
          </a:p>
        </p:txBody>
      </p:sp>
      <p:sp>
        <p:nvSpPr>
          <p:cNvPr name="TextBox 10" id="10"/>
          <p:cNvSpPr txBox="true"/>
          <p:nvPr/>
        </p:nvSpPr>
        <p:spPr>
          <a:xfrm rot="0">
            <a:off x="9220413" y="1186003"/>
            <a:ext cx="231859" cy="505460"/>
          </a:xfrm>
          <a:prstGeom prst="rect">
            <a:avLst/>
          </a:prstGeom>
        </p:spPr>
        <p:txBody>
          <a:bodyPr anchor="t" rtlCol="false" tIns="0" lIns="0" bIns="0" rIns="0">
            <a:spAutoFit/>
          </a:bodyPr>
          <a:lstStyle/>
          <a:p>
            <a:pPr algn="ctr">
              <a:lnSpc>
                <a:spcPts val="3640"/>
              </a:lnSpc>
              <a:spcBef>
                <a:spcPct val="0"/>
              </a:spcBef>
            </a:pPr>
            <a:r>
              <a:rPr lang="en-US" sz="2600">
                <a:solidFill>
                  <a:srgbClr val="3E3F54"/>
                </a:solidFill>
                <a:latin typeface="Heading Now 71-78"/>
                <a:ea typeface="Heading Now 71-78"/>
                <a:cs typeface="Heading Now 71-78"/>
                <a:sym typeface="Heading Now 71-78"/>
              </a:rPr>
              <a:t>1</a:t>
            </a:r>
          </a:p>
        </p:txBody>
      </p:sp>
      <p:sp>
        <p:nvSpPr>
          <p:cNvPr name="TextBox 11" id="11"/>
          <p:cNvSpPr txBox="true"/>
          <p:nvPr/>
        </p:nvSpPr>
        <p:spPr>
          <a:xfrm rot="0">
            <a:off x="9960643" y="2262660"/>
            <a:ext cx="5527404" cy="448310"/>
          </a:xfrm>
          <a:prstGeom prst="rect">
            <a:avLst/>
          </a:prstGeom>
        </p:spPr>
        <p:txBody>
          <a:bodyPr anchor="t" rtlCol="false" tIns="0" lIns="0" bIns="0" rIns="0">
            <a:spAutoFit/>
          </a:bodyPr>
          <a:lstStyle/>
          <a:p>
            <a:pPr algn="just">
              <a:lnSpc>
                <a:spcPts val="3640"/>
              </a:lnSpc>
            </a:pPr>
            <a:r>
              <a:rPr lang="en-US" sz="2600">
                <a:solidFill>
                  <a:srgbClr val="3E3F54"/>
                </a:solidFill>
                <a:latin typeface="TT Firs Neue"/>
                <a:ea typeface="TT Firs Neue"/>
                <a:cs typeface="TT Firs Neue"/>
                <a:sym typeface="TT Firs Neue"/>
              </a:rPr>
              <a:t>Existing Structure</a:t>
            </a:r>
          </a:p>
        </p:txBody>
      </p:sp>
      <p:sp>
        <p:nvSpPr>
          <p:cNvPr name="TextBox 12" id="12"/>
          <p:cNvSpPr txBox="true"/>
          <p:nvPr/>
        </p:nvSpPr>
        <p:spPr>
          <a:xfrm rot="0">
            <a:off x="9147983" y="2205510"/>
            <a:ext cx="376718" cy="505460"/>
          </a:xfrm>
          <a:prstGeom prst="rect">
            <a:avLst/>
          </a:prstGeom>
        </p:spPr>
        <p:txBody>
          <a:bodyPr anchor="t" rtlCol="false" tIns="0" lIns="0" bIns="0" rIns="0">
            <a:spAutoFit/>
          </a:bodyPr>
          <a:lstStyle/>
          <a:p>
            <a:pPr algn="ctr">
              <a:lnSpc>
                <a:spcPts val="3640"/>
              </a:lnSpc>
              <a:spcBef>
                <a:spcPct val="0"/>
              </a:spcBef>
            </a:pPr>
            <a:r>
              <a:rPr lang="en-US" sz="2600">
                <a:solidFill>
                  <a:srgbClr val="3E3F54"/>
                </a:solidFill>
                <a:latin typeface="Heading Now 71-78"/>
                <a:ea typeface="Heading Now 71-78"/>
                <a:cs typeface="Heading Now 71-78"/>
                <a:sym typeface="Heading Now 71-78"/>
              </a:rPr>
              <a:t>2</a:t>
            </a:r>
          </a:p>
        </p:txBody>
      </p:sp>
      <p:sp>
        <p:nvSpPr>
          <p:cNvPr name="TextBox 13" id="13"/>
          <p:cNvSpPr txBox="true"/>
          <p:nvPr/>
        </p:nvSpPr>
        <p:spPr>
          <a:xfrm rot="0">
            <a:off x="9956660" y="3282470"/>
            <a:ext cx="7527126" cy="905510"/>
          </a:xfrm>
          <a:prstGeom prst="rect">
            <a:avLst/>
          </a:prstGeom>
        </p:spPr>
        <p:txBody>
          <a:bodyPr anchor="t" rtlCol="false" tIns="0" lIns="0" bIns="0" rIns="0">
            <a:spAutoFit/>
          </a:bodyPr>
          <a:lstStyle/>
          <a:p>
            <a:pPr algn="l">
              <a:lnSpc>
                <a:spcPts val="3640"/>
              </a:lnSpc>
            </a:pPr>
            <a:r>
              <a:rPr lang="en-US" sz="2600">
                <a:solidFill>
                  <a:srgbClr val="3E3F54"/>
                </a:solidFill>
                <a:latin typeface="TT Firs Neue"/>
                <a:ea typeface="TT Firs Neue"/>
                <a:cs typeface="TT Firs Neue"/>
                <a:sym typeface="TT Firs Neue"/>
              </a:rPr>
              <a:t>FAIR Assessment: deficiencies and design improvements for your portable structure</a:t>
            </a:r>
          </a:p>
        </p:txBody>
      </p:sp>
      <p:sp>
        <p:nvSpPr>
          <p:cNvPr name="TextBox 14" id="14"/>
          <p:cNvSpPr txBox="true"/>
          <p:nvPr/>
        </p:nvSpPr>
        <p:spPr>
          <a:xfrm rot="0">
            <a:off x="9144000" y="4615497"/>
            <a:ext cx="384684" cy="505460"/>
          </a:xfrm>
          <a:prstGeom prst="rect">
            <a:avLst/>
          </a:prstGeom>
        </p:spPr>
        <p:txBody>
          <a:bodyPr anchor="t" rtlCol="false" tIns="0" lIns="0" bIns="0" rIns="0">
            <a:spAutoFit/>
          </a:bodyPr>
          <a:lstStyle/>
          <a:p>
            <a:pPr algn="ctr">
              <a:lnSpc>
                <a:spcPts val="3640"/>
              </a:lnSpc>
              <a:spcBef>
                <a:spcPct val="0"/>
              </a:spcBef>
            </a:pPr>
            <a:r>
              <a:rPr lang="en-US" sz="2600">
                <a:solidFill>
                  <a:srgbClr val="3E3F54"/>
                </a:solidFill>
                <a:latin typeface="Heading Now 71-78"/>
                <a:ea typeface="Heading Now 71-78"/>
                <a:cs typeface="Heading Now 71-78"/>
                <a:sym typeface="Heading Now 71-78"/>
              </a:rPr>
              <a:t>4</a:t>
            </a:r>
          </a:p>
        </p:txBody>
      </p:sp>
      <p:sp>
        <p:nvSpPr>
          <p:cNvPr name="TextBox 15" id="15"/>
          <p:cNvSpPr txBox="true"/>
          <p:nvPr/>
        </p:nvSpPr>
        <p:spPr>
          <a:xfrm rot="0">
            <a:off x="9960643" y="4674058"/>
            <a:ext cx="5527404" cy="448310"/>
          </a:xfrm>
          <a:prstGeom prst="rect">
            <a:avLst/>
          </a:prstGeom>
        </p:spPr>
        <p:txBody>
          <a:bodyPr anchor="t" rtlCol="false" tIns="0" lIns="0" bIns="0" rIns="0">
            <a:spAutoFit/>
          </a:bodyPr>
          <a:lstStyle/>
          <a:p>
            <a:pPr algn="just">
              <a:lnSpc>
                <a:spcPts val="3640"/>
              </a:lnSpc>
            </a:pPr>
            <a:r>
              <a:rPr lang="en-US" sz="2600">
                <a:solidFill>
                  <a:srgbClr val="3E3F54"/>
                </a:solidFill>
                <a:latin typeface="TT Firs Neue"/>
                <a:ea typeface="TT Firs Neue"/>
                <a:cs typeface="TT Firs Neue"/>
                <a:sym typeface="TT Firs Neue"/>
              </a:rPr>
              <a:t>New Structure</a:t>
            </a:r>
          </a:p>
        </p:txBody>
      </p:sp>
      <p:sp>
        <p:nvSpPr>
          <p:cNvPr name="TextBox 16" id="16"/>
          <p:cNvSpPr txBox="true"/>
          <p:nvPr/>
        </p:nvSpPr>
        <p:spPr>
          <a:xfrm rot="0">
            <a:off x="9144000" y="5573428"/>
            <a:ext cx="361833" cy="505460"/>
          </a:xfrm>
          <a:prstGeom prst="rect">
            <a:avLst/>
          </a:prstGeom>
        </p:spPr>
        <p:txBody>
          <a:bodyPr anchor="t" rtlCol="false" tIns="0" lIns="0" bIns="0" rIns="0">
            <a:spAutoFit/>
          </a:bodyPr>
          <a:lstStyle/>
          <a:p>
            <a:pPr algn="ctr">
              <a:lnSpc>
                <a:spcPts val="3640"/>
              </a:lnSpc>
              <a:spcBef>
                <a:spcPct val="0"/>
              </a:spcBef>
            </a:pPr>
            <a:r>
              <a:rPr lang="en-US" sz="2600">
                <a:solidFill>
                  <a:srgbClr val="3E3F54"/>
                </a:solidFill>
                <a:latin typeface="Heading Now 71-78"/>
                <a:ea typeface="Heading Now 71-78"/>
                <a:cs typeface="Heading Now 71-78"/>
                <a:sym typeface="Heading Now 71-78"/>
              </a:rPr>
              <a:t>5</a:t>
            </a:r>
          </a:p>
        </p:txBody>
      </p:sp>
      <p:sp>
        <p:nvSpPr>
          <p:cNvPr name="TextBox 17" id="17"/>
          <p:cNvSpPr txBox="true"/>
          <p:nvPr/>
        </p:nvSpPr>
        <p:spPr>
          <a:xfrm rot="0">
            <a:off x="9949218" y="5631989"/>
            <a:ext cx="5527404" cy="448310"/>
          </a:xfrm>
          <a:prstGeom prst="rect">
            <a:avLst/>
          </a:prstGeom>
        </p:spPr>
        <p:txBody>
          <a:bodyPr anchor="t" rtlCol="false" tIns="0" lIns="0" bIns="0" rIns="0">
            <a:spAutoFit/>
          </a:bodyPr>
          <a:lstStyle/>
          <a:p>
            <a:pPr algn="just">
              <a:lnSpc>
                <a:spcPts val="3640"/>
              </a:lnSpc>
            </a:pPr>
            <a:r>
              <a:rPr lang="en-US" sz="2600">
                <a:solidFill>
                  <a:srgbClr val="3E3F54"/>
                </a:solidFill>
                <a:latin typeface="TT Firs Neue"/>
                <a:ea typeface="TT Firs Neue"/>
                <a:cs typeface="TT Firs Neue"/>
                <a:sym typeface="TT Firs Neue"/>
              </a:rPr>
              <a:t>Data Quality &amp; Security</a:t>
            </a:r>
          </a:p>
        </p:txBody>
      </p:sp>
      <p:sp>
        <p:nvSpPr>
          <p:cNvPr name="TextBox 18" id="18"/>
          <p:cNvSpPr txBox="true"/>
          <p:nvPr/>
        </p:nvSpPr>
        <p:spPr>
          <a:xfrm rot="0">
            <a:off x="9133151" y="6559934"/>
            <a:ext cx="383531" cy="505460"/>
          </a:xfrm>
          <a:prstGeom prst="rect">
            <a:avLst/>
          </a:prstGeom>
        </p:spPr>
        <p:txBody>
          <a:bodyPr anchor="t" rtlCol="false" tIns="0" lIns="0" bIns="0" rIns="0">
            <a:spAutoFit/>
          </a:bodyPr>
          <a:lstStyle/>
          <a:p>
            <a:pPr algn="ctr">
              <a:lnSpc>
                <a:spcPts val="3640"/>
              </a:lnSpc>
              <a:spcBef>
                <a:spcPct val="0"/>
              </a:spcBef>
            </a:pPr>
            <a:r>
              <a:rPr lang="en-US" sz="2600">
                <a:solidFill>
                  <a:srgbClr val="3E3F54"/>
                </a:solidFill>
                <a:latin typeface="Heading Now 71-78"/>
                <a:ea typeface="Heading Now 71-78"/>
                <a:cs typeface="Heading Now 71-78"/>
                <a:sym typeface="Heading Now 71-78"/>
              </a:rPr>
              <a:t>6</a:t>
            </a:r>
          </a:p>
        </p:txBody>
      </p:sp>
      <p:sp>
        <p:nvSpPr>
          <p:cNvPr name="TextBox 19" id="19"/>
          <p:cNvSpPr txBox="true"/>
          <p:nvPr/>
        </p:nvSpPr>
        <p:spPr>
          <a:xfrm rot="0">
            <a:off x="9144000" y="3225320"/>
            <a:ext cx="376718" cy="505460"/>
          </a:xfrm>
          <a:prstGeom prst="rect">
            <a:avLst/>
          </a:prstGeom>
        </p:spPr>
        <p:txBody>
          <a:bodyPr anchor="t" rtlCol="false" tIns="0" lIns="0" bIns="0" rIns="0">
            <a:spAutoFit/>
          </a:bodyPr>
          <a:lstStyle/>
          <a:p>
            <a:pPr algn="ctr">
              <a:lnSpc>
                <a:spcPts val="3640"/>
              </a:lnSpc>
              <a:spcBef>
                <a:spcPct val="0"/>
              </a:spcBef>
            </a:pPr>
            <a:r>
              <a:rPr lang="en-US" sz="2600">
                <a:solidFill>
                  <a:srgbClr val="3E3F54"/>
                </a:solidFill>
                <a:latin typeface="Heading Now 71-78"/>
                <a:ea typeface="Heading Now 71-78"/>
                <a:cs typeface="Heading Now 71-78"/>
                <a:sym typeface="Heading Now 71-78"/>
              </a:rPr>
              <a:t>3</a:t>
            </a:r>
          </a:p>
        </p:txBody>
      </p:sp>
      <p:sp>
        <p:nvSpPr>
          <p:cNvPr name="TextBox 20" id="20"/>
          <p:cNvSpPr txBox="true"/>
          <p:nvPr/>
        </p:nvSpPr>
        <p:spPr>
          <a:xfrm rot="0">
            <a:off x="9949218" y="6648480"/>
            <a:ext cx="5527404" cy="448310"/>
          </a:xfrm>
          <a:prstGeom prst="rect">
            <a:avLst/>
          </a:prstGeom>
        </p:spPr>
        <p:txBody>
          <a:bodyPr anchor="t" rtlCol="false" tIns="0" lIns="0" bIns="0" rIns="0">
            <a:spAutoFit/>
          </a:bodyPr>
          <a:lstStyle/>
          <a:p>
            <a:pPr algn="just">
              <a:lnSpc>
                <a:spcPts val="3640"/>
              </a:lnSpc>
            </a:pPr>
            <a:r>
              <a:rPr lang="en-US" sz="2600">
                <a:solidFill>
                  <a:srgbClr val="3E3F54"/>
                </a:solidFill>
                <a:latin typeface="TT Firs Neue"/>
                <a:ea typeface="TT Firs Neue"/>
                <a:cs typeface="TT Firs Neue"/>
                <a:sym typeface="TT Firs Neue"/>
              </a:rPr>
              <a:t>DEMO!</a:t>
            </a:r>
          </a:p>
        </p:txBody>
      </p:sp>
      <p:sp>
        <p:nvSpPr>
          <p:cNvPr name="TextBox 21" id="21"/>
          <p:cNvSpPr txBox="true"/>
          <p:nvPr/>
        </p:nvSpPr>
        <p:spPr>
          <a:xfrm rot="0">
            <a:off x="9133151" y="7491460"/>
            <a:ext cx="383531" cy="505460"/>
          </a:xfrm>
          <a:prstGeom prst="rect">
            <a:avLst/>
          </a:prstGeom>
        </p:spPr>
        <p:txBody>
          <a:bodyPr anchor="t" rtlCol="false" tIns="0" lIns="0" bIns="0" rIns="0">
            <a:spAutoFit/>
          </a:bodyPr>
          <a:lstStyle/>
          <a:p>
            <a:pPr algn="ctr">
              <a:lnSpc>
                <a:spcPts val="3640"/>
              </a:lnSpc>
              <a:spcBef>
                <a:spcPct val="0"/>
              </a:spcBef>
            </a:pPr>
            <a:r>
              <a:rPr lang="en-US" sz="2600">
                <a:solidFill>
                  <a:srgbClr val="3E3F54"/>
                </a:solidFill>
                <a:latin typeface="Heading Now 71-78"/>
                <a:ea typeface="Heading Now 71-78"/>
                <a:cs typeface="Heading Now 71-78"/>
                <a:sym typeface="Heading Now 71-78"/>
              </a:rPr>
              <a:t>7</a:t>
            </a:r>
          </a:p>
        </p:txBody>
      </p:sp>
      <p:sp>
        <p:nvSpPr>
          <p:cNvPr name="TextBox 22" id="22"/>
          <p:cNvSpPr txBox="true"/>
          <p:nvPr/>
        </p:nvSpPr>
        <p:spPr>
          <a:xfrm rot="0">
            <a:off x="9949218" y="7551432"/>
            <a:ext cx="5527404" cy="448310"/>
          </a:xfrm>
          <a:prstGeom prst="rect">
            <a:avLst/>
          </a:prstGeom>
        </p:spPr>
        <p:txBody>
          <a:bodyPr anchor="t" rtlCol="false" tIns="0" lIns="0" bIns="0" rIns="0">
            <a:spAutoFit/>
          </a:bodyPr>
          <a:lstStyle/>
          <a:p>
            <a:pPr algn="just">
              <a:lnSpc>
                <a:spcPts val="3640"/>
              </a:lnSpc>
            </a:pPr>
            <a:r>
              <a:rPr lang="en-US" sz="2600">
                <a:solidFill>
                  <a:srgbClr val="3E3F54"/>
                </a:solidFill>
                <a:latin typeface="TT Firs Neue"/>
                <a:ea typeface="TT Firs Neue"/>
                <a:cs typeface="TT Firs Neue"/>
                <a:sym typeface="TT Firs Neue"/>
              </a:rPr>
              <a:t>Next Steps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60571" y="2788496"/>
            <a:ext cx="8611204" cy="2301434"/>
            <a:chOff x="0" y="0"/>
            <a:chExt cx="2137461" cy="571259"/>
          </a:xfrm>
        </p:grpSpPr>
        <p:sp>
          <p:nvSpPr>
            <p:cNvPr name="Freeform 3" id="3"/>
            <p:cNvSpPr/>
            <p:nvPr/>
          </p:nvSpPr>
          <p:spPr>
            <a:xfrm flipH="false" flipV="false" rot="0">
              <a:off x="0" y="0"/>
              <a:ext cx="2137461" cy="571259"/>
            </a:xfrm>
            <a:custGeom>
              <a:avLst/>
              <a:gdLst/>
              <a:ahLst/>
              <a:cxnLst/>
              <a:rect r="r" b="b" t="t" l="l"/>
              <a:pathLst>
                <a:path h="571259" w="2137461">
                  <a:moveTo>
                    <a:pt x="31467" y="0"/>
                  </a:moveTo>
                  <a:lnTo>
                    <a:pt x="2105995" y="0"/>
                  </a:lnTo>
                  <a:cubicBezTo>
                    <a:pt x="2114340" y="0"/>
                    <a:pt x="2122344" y="3315"/>
                    <a:pt x="2128245" y="9216"/>
                  </a:cubicBezTo>
                  <a:cubicBezTo>
                    <a:pt x="2134146" y="15118"/>
                    <a:pt x="2137461" y="23121"/>
                    <a:pt x="2137461" y="31467"/>
                  </a:cubicBezTo>
                  <a:lnTo>
                    <a:pt x="2137461" y="539792"/>
                  </a:lnTo>
                  <a:cubicBezTo>
                    <a:pt x="2137461" y="548138"/>
                    <a:pt x="2134146" y="556141"/>
                    <a:pt x="2128245" y="562042"/>
                  </a:cubicBezTo>
                  <a:cubicBezTo>
                    <a:pt x="2122344" y="567944"/>
                    <a:pt x="2114340" y="571259"/>
                    <a:pt x="2105995" y="571259"/>
                  </a:cubicBezTo>
                  <a:lnTo>
                    <a:pt x="31467" y="571259"/>
                  </a:lnTo>
                  <a:cubicBezTo>
                    <a:pt x="23121" y="571259"/>
                    <a:pt x="15118" y="567944"/>
                    <a:pt x="9216" y="562042"/>
                  </a:cubicBezTo>
                  <a:cubicBezTo>
                    <a:pt x="3315" y="556141"/>
                    <a:pt x="0" y="548138"/>
                    <a:pt x="0" y="539792"/>
                  </a:cubicBezTo>
                  <a:lnTo>
                    <a:pt x="0" y="31467"/>
                  </a:lnTo>
                  <a:cubicBezTo>
                    <a:pt x="0" y="23121"/>
                    <a:pt x="3315" y="15118"/>
                    <a:pt x="9216" y="9216"/>
                  </a:cubicBezTo>
                  <a:cubicBezTo>
                    <a:pt x="15118" y="3315"/>
                    <a:pt x="23121" y="0"/>
                    <a:pt x="31467" y="0"/>
                  </a:cubicBezTo>
                  <a:close/>
                </a:path>
              </a:pathLst>
            </a:custGeom>
            <a:solidFill>
              <a:srgbClr val="647FEA"/>
            </a:solidFill>
            <a:ln cap="rnd">
              <a:noFill/>
              <a:prstDash val="solid"/>
              <a:round/>
            </a:ln>
          </p:spPr>
        </p:sp>
        <p:sp>
          <p:nvSpPr>
            <p:cNvPr name="TextBox 4" id="4"/>
            <p:cNvSpPr txBox="true"/>
            <p:nvPr/>
          </p:nvSpPr>
          <p:spPr>
            <a:xfrm>
              <a:off x="0" y="-47625"/>
              <a:ext cx="2137461" cy="618884"/>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559727" y="2577682"/>
            <a:ext cx="4963532" cy="4112420"/>
            <a:chOff x="0" y="0"/>
            <a:chExt cx="1635463" cy="1355025"/>
          </a:xfrm>
        </p:grpSpPr>
        <p:sp>
          <p:nvSpPr>
            <p:cNvPr name="Freeform 6" id="6"/>
            <p:cNvSpPr/>
            <p:nvPr/>
          </p:nvSpPr>
          <p:spPr>
            <a:xfrm flipH="false" flipV="false" rot="0">
              <a:off x="0" y="0"/>
              <a:ext cx="1635465" cy="1355025"/>
            </a:xfrm>
            <a:custGeom>
              <a:avLst/>
              <a:gdLst/>
              <a:ahLst/>
              <a:cxnLst/>
              <a:rect r="r" b="b" t="t" l="l"/>
              <a:pathLst>
                <a:path h="1355025" w="1635465">
                  <a:moveTo>
                    <a:pt x="1288506" y="0"/>
                  </a:moveTo>
                  <a:lnTo>
                    <a:pt x="148415" y="0"/>
                  </a:lnTo>
                  <a:cubicBezTo>
                    <a:pt x="66448" y="0"/>
                    <a:pt x="0" y="66448"/>
                    <a:pt x="0" y="148415"/>
                  </a:cubicBezTo>
                  <a:lnTo>
                    <a:pt x="0" y="1075632"/>
                  </a:lnTo>
                  <a:cubicBezTo>
                    <a:pt x="0" y="1112143"/>
                    <a:pt x="13458" y="1147373"/>
                    <a:pt x="37800" y="1174584"/>
                  </a:cubicBezTo>
                  <a:lnTo>
                    <a:pt x="154967" y="1305561"/>
                  </a:lnTo>
                  <a:cubicBezTo>
                    <a:pt x="183122" y="1337036"/>
                    <a:pt x="223353" y="1355026"/>
                    <a:pt x="265584" y="1355025"/>
                  </a:cubicBezTo>
                  <a:lnTo>
                    <a:pt x="1487049" y="1355025"/>
                  </a:lnTo>
                  <a:cubicBezTo>
                    <a:pt x="1526411" y="1355025"/>
                    <a:pt x="1564162" y="1339389"/>
                    <a:pt x="1591995" y="1311556"/>
                  </a:cubicBezTo>
                  <a:cubicBezTo>
                    <a:pt x="1619828" y="1283722"/>
                    <a:pt x="1635465" y="1245972"/>
                    <a:pt x="1635465" y="1206610"/>
                  </a:cubicBezTo>
                  <a:lnTo>
                    <a:pt x="1635465" y="366141"/>
                  </a:lnTo>
                  <a:cubicBezTo>
                    <a:pt x="1635465" y="329143"/>
                    <a:pt x="1621646" y="293478"/>
                    <a:pt x="1596716" y="266140"/>
                  </a:cubicBezTo>
                  <a:lnTo>
                    <a:pt x="1398173" y="48414"/>
                  </a:lnTo>
                  <a:cubicBezTo>
                    <a:pt x="1370051" y="17574"/>
                    <a:pt x="1330243" y="0"/>
                    <a:pt x="1288506" y="0"/>
                  </a:cubicBezTo>
                  <a:close/>
                </a:path>
              </a:pathLst>
            </a:custGeom>
            <a:blipFill>
              <a:blip r:embed="rId3"/>
              <a:stretch>
                <a:fillRect l="-37705" t="-17658" r="-8610" b="0"/>
              </a:stretch>
            </a:blipFill>
          </p:spPr>
        </p:sp>
      </p:grpSp>
      <p:sp>
        <p:nvSpPr>
          <p:cNvPr name="TextBox 7" id="7"/>
          <p:cNvSpPr txBox="true"/>
          <p:nvPr/>
        </p:nvSpPr>
        <p:spPr>
          <a:xfrm rot="0">
            <a:off x="7460571" y="1338554"/>
            <a:ext cx="7719564" cy="885190"/>
          </a:xfrm>
          <a:prstGeom prst="rect">
            <a:avLst/>
          </a:prstGeom>
        </p:spPr>
        <p:txBody>
          <a:bodyPr anchor="t" rtlCol="false" tIns="0" lIns="0" bIns="0" rIns="0">
            <a:spAutoFit/>
          </a:bodyPr>
          <a:lstStyle/>
          <a:p>
            <a:pPr algn="ctr">
              <a:lnSpc>
                <a:spcPts val="5600"/>
              </a:lnSpc>
            </a:pPr>
            <a:r>
              <a:rPr lang="en-US" sz="5600" spc="-308">
                <a:solidFill>
                  <a:srgbClr val="3E3F54"/>
                </a:solidFill>
                <a:latin typeface="Heading Now 71-78"/>
                <a:ea typeface="Heading Now 71-78"/>
                <a:cs typeface="Heading Now 71-78"/>
                <a:sym typeface="Heading Now 71-78"/>
              </a:rPr>
              <a:t>Information Story</a:t>
            </a:r>
          </a:p>
        </p:txBody>
      </p:sp>
      <p:grpSp>
        <p:nvGrpSpPr>
          <p:cNvPr name="Group 8" id="8"/>
          <p:cNvGrpSpPr/>
          <p:nvPr/>
        </p:nvGrpSpPr>
        <p:grpSpPr>
          <a:xfrm rot="0">
            <a:off x="7488950" y="5479007"/>
            <a:ext cx="8611204" cy="2301434"/>
            <a:chOff x="0" y="0"/>
            <a:chExt cx="2137461" cy="571259"/>
          </a:xfrm>
        </p:grpSpPr>
        <p:sp>
          <p:nvSpPr>
            <p:cNvPr name="Freeform 9" id="9"/>
            <p:cNvSpPr/>
            <p:nvPr/>
          </p:nvSpPr>
          <p:spPr>
            <a:xfrm flipH="false" flipV="false" rot="0">
              <a:off x="0" y="0"/>
              <a:ext cx="2137461" cy="571259"/>
            </a:xfrm>
            <a:custGeom>
              <a:avLst/>
              <a:gdLst/>
              <a:ahLst/>
              <a:cxnLst/>
              <a:rect r="r" b="b" t="t" l="l"/>
              <a:pathLst>
                <a:path h="571259" w="2137461">
                  <a:moveTo>
                    <a:pt x="31467" y="0"/>
                  </a:moveTo>
                  <a:lnTo>
                    <a:pt x="2105995" y="0"/>
                  </a:lnTo>
                  <a:cubicBezTo>
                    <a:pt x="2114340" y="0"/>
                    <a:pt x="2122344" y="3315"/>
                    <a:pt x="2128245" y="9216"/>
                  </a:cubicBezTo>
                  <a:cubicBezTo>
                    <a:pt x="2134146" y="15118"/>
                    <a:pt x="2137461" y="23121"/>
                    <a:pt x="2137461" y="31467"/>
                  </a:cubicBezTo>
                  <a:lnTo>
                    <a:pt x="2137461" y="539792"/>
                  </a:lnTo>
                  <a:cubicBezTo>
                    <a:pt x="2137461" y="548138"/>
                    <a:pt x="2134146" y="556141"/>
                    <a:pt x="2128245" y="562042"/>
                  </a:cubicBezTo>
                  <a:cubicBezTo>
                    <a:pt x="2122344" y="567944"/>
                    <a:pt x="2114340" y="571259"/>
                    <a:pt x="2105995" y="571259"/>
                  </a:cubicBezTo>
                  <a:lnTo>
                    <a:pt x="31467" y="571259"/>
                  </a:lnTo>
                  <a:cubicBezTo>
                    <a:pt x="23121" y="571259"/>
                    <a:pt x="15118" y="567944"/>
                    <a:pt x="9216" y="562042"/>
                  </a:cubicBezTo>
                  <a:cubicBezTo>
                    <a:pt x="3315" y="556141"/>
                    <a:pt x="0" y="548138"/>
                    <a:pt x="0" y="539792"/>
                  </a:cubicBezTo>
                  <a:lnTo>
                    <a:pt x="0" y="31467"/>
                  </a:lnTo>
                  <a:cubicBezTo>
                    <a:pt x="0" y="23121"/>
                    <a:pt x="3315" y="15118"/>
                    <a:pt x="9216" y="9216"/>
                  </a:cubicBezTo>
                  <a:cubicBezTo>
                    <a:pt x="15118" y="3315"/>
                    <a:pt x="23121" y="0"/>
                    <a:pt x="31467" y="0"/>
                  </a:cubicBezTo>
                  <a:close/>
                </a:path>
              </a:pathLst>
            </a:custGeom>
            <a:solidFill>
              <a:srgbClr val="FE6B46"/>
            </a:solidFill>
            <a:ln cap="rnd">
              <a:noFill/>
              <a:prstDash val="solid"/>
              <a:round/>
            </a:ln>
          </p:spPr>
        </p:sp>
        <p:sp>
          <p:nvSpPr>
            <p:cNvPr name="TextBox 10" id="10"/>
            <p:cNvSpPr txBox="true"/>
            <p:nvPr/>
          </p:nvSpPr>
          <p:spPr>
            <a:xfrm>
              <a:off x="0" y="-47625"/>
              <a:ext cx="2137461" cy="618884"/>
            </a:xfrm>
            <a:prstGeom prst="rect">
              <a:avLst/>
            </a:prstGeom>
          </p:spPr>
          <p:txBody>
            <a:bodyPr anchor="ctr" rtlCol="false" tIns="50800" lIns="50800" bIns="50800" rIns="50800"/>
            <a:lstStyle/>
            <a:p>
              <a:pPr algn="ctr">
                <a:lnSpc>
                  <a:spcPts val="3359"/>
                </a:lnSpc>
              </a:pPr>
            </a:p>
          </p:txBody>
        </p:sp>
      </p:grpSp>
      <p:sp>
        <p:nvSpPr>
          <p:cNvPr name="TextBox 11" id="11"/>
          <p:cNvSpPr txBox="true"/>
          <p:nvPr/>
        </p:nvSpPr>
        <p:spPr>
          <a:xfrm rot="0">
            <a:off x="7874952" y="5774379"/>
            <a:ext cx="7782442" cy="1663065"/>
          </a:xfrm>
          <a:prstGeom prst="rect">
            <a:avLst/>
          </a:prstGeom>
        </p:spPr>
        <p:txBody>
          <a:bodyPr anchor="t" rtlCol="false" tIns="0" lIns="0" bIns="0" rIns="0">
            <a:spAutoFit/>
          </a:bodyPr>
          <a:lstStyle/>
          <a:p>
            <a:pPr algn="l">
              <a:lnSpc>
                <a:spcPts val="3359"/>
              </a:lnSpc>
            </a:pPr>
            <a:r>
              <a:rPr lang="en-US" sz="2399">
                <a:solidFill>
                  <a:srgbClr val="FFFFFF"/>
                </a:solidFill>
                <a:latin typeface="TT Firs Neue"/>
                <a:ea typeface="TT Firs Neue"/>
                <a:cs typeface="TT Firs Neue"/>
                <a:sym typeface="TT Firs Neue"/>
              </a:rPr>
              <a:t>Our improved</a:t>
            </a:r>
            <a:r>
              <a:rPr lang="en-US" sz="2399">
                <a:solidFill>
                  <a:srgbClr val="FFFFFF"/>
                </a:solidFill>
                <a:latin typeface="TT Firs Neue"/>
                <a:ea typeface="TT Firs Neue"/>
                <a:cs typeface="TT Firs Neue"/>
                <a:sym typeface="TT Firs Neue"/>
              </a:rPr>
              <a:t> system should allow users to search courses by career goal, filter by skill area, view student reviews, compare workload, and submit new course feedback.</a:t>
            </a:r>
          </a:p>
        </p:txBody>
      </p:sp>
      <p:sp>
        <p:nvSpPr>
          <p:cNvPr name="Freeform 12" id="12"/>
          <p:cNvSpPr/>
          <p:nvPr/>
        </p:nvSpPr>
        <p:spPr>
          <a:xfrm flipH="false" flipV="false" rot="0">
            <a:off x="15584285" y="8011025"/>
            <a:ext cx="1253457" cy="652320"/>
          </a:xfrm>
          <a:custGeom>
            <a:avLst/>
            <a:gdLst/>
            <a:ahLst/>
            <a:cxnLst/>
            <a:rect r="r" b="b" t="t" l="l"/>
            <a:pathLst>
              <a:path h="652320" w="1253457">
                <a:moveTo>
                  <a:pt x="0" y="0"/>
                </a:moveTo>
                <a:lnTo>
                  <a:pt x="1253457" y="0"/>
                </a:lnTo>
                <a:lnTo>
                  <a:pt x="1253457" y="652320"/>
                </a:lnTo>
                <a:lnTo>
                  <a:pt x="0" y="652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7874952" y="3083868"/>
            <a:ext cx="7782442" cy="1663065"/>
          </a:xfrm>
          <a:prstGeom prst="rect">
            <a:avLst/>
          </a:prstGeom>
        </p:spPr>
        <p:txBody>
          <a:bodyPr anchor="t" rtlCol="false" tIns="0" lIns="0" bIns="0" rIns="0">
            <a:spAutoFit/>
          </a:bodyPr>
          <a:lstStyle/>
          <a:p>
            <a:pPr algn="l">
              <a:lnSpc>
                <a:spcPts val="3359"/>
              </a:lnSpc>
            </a:pPr>
            <a:r>
              <a:rPr lang="en-US" sz="2400">
                <a:solidFill>
                  <a:srgbClr val="FFFFFF"/>
                </a:solidFill>
                <a:latin typeface="TT Firs Neue"/>
                <a:ea typeface="TT Firs Neue"/>
                <a:cs typeface="TT Firs Neue"/>
                <a:sym typeface="TT Firs Neue"/>
              </a:rPr>
              <a:t>MSIM students try to find courses for the next quarter, but they have a hard time finding courses that actually support their </a:t>
            </a:r>
            <a:r>
              <a:rPr lang="en-US" sz="2400" b="true">
                <a:solidFill>
                  <a:srgbClr val="FFFFFF"/>
                </a:solidFill>
                <a:latin typeface="TT Firs Neue Bold"/>
                <a:ea typeface="TT Firs Neue Bold"/>
                <a:cs typeface="TT Firs Neue Bold"/>
                <a:sym typeface="TT Firs Neue Bold"/>
              </a:rPr>
              <a:t>learning and career goals.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881571" y="929616"/>
            <a:ext cx="10299337" cy="4959534"/>
            <a:chOff x="0" y="0"/>
            <a:chExt cx="1276445" cy="614658"/>
          </a:xfrm>
        </p:grpSpPr>
        <p:sp>
          <p:nvSpPr>
            <p:cNvPr name="Freeform 3" id="3"/>
            <p:cNvSpPr/>
            <p:nvPr/>
          </p:nvSpPr>
          <p:spPr>
            <a:xfrm flipH="false" flipV="false" rot="0">
              <a:off x="0" y="0"/>
              <a:ext cx="1276445" cy="614658"/>
            </a:xfrm>
            <a:custGeom>
              <a:avLst/>
              <a:gdLst/>
              <a:ahLst/>
              <a:cxnLst/>
              <a:rect r="r" b="b" t="t" l="l"/>
              <a:pathLst>
                <a:path h="614658" w="1276445">
                  <a:moveTo>
                    <a:pt x="0" y="0"/>
                  </a:moveTo>
                  <a:lnTo>
                    <a:pt x="1276445" y="0"/>
                  </a:lnTo>
                  <a:lnTo>
                    <a:pt x="1276445" y="614658"/>
                  </a:lnTo>
                  <a:lnTo>
                    <a:pt x="0" y="614658"/>
                  </a:lnTo>
                  <a:close/>
                </a:path>
              </a:pathLst>
            </a:custGeom>
            <a:blipFill>
              <a:blip r:embed="rId3"/>
              <a:stretch>
                <a:fillRect l="0" t="-229" r="0" b="-229"/>
              </a:stretch>
            </a:blipFill>
          </p:spPr>
        </p:sp>
      </p:grpSp>
      <p:sp>
        <p:nvSpPr>
          <p:cNvPr name="Freeform 4" id="4"/>
          <p:cNvSpPr/>
          <p:nvPr/>
        </p:nvSpPr>
        <p:spPr>
          <a:xfrm flipH="false" flipV="false" rot="0">
            <a:off x="16334897" y="690534"/>
            <a:ext cx="1454086" cy="478166"/>
          </a:xfrm>
          <a:custGeom>
            <a:avLst/>
            <a:gdLst/>
            <a:ahLst/>
            <a:cxnLst/>
            <a:rect r="r" b="b" t="t" l="l"/>
            <a:pathLst>
              <a:path h="478166" w="1454086">
                <a:moveTo>
                  <a:pt x="0" y="0"/>
                </a:moveTo>
                <a:lnTo>
                  <a:pt x="1454085" y="0"/>
                </a:lnTo>
                <a:lnTo>
                  <a:pt x="1454085" y="478165"/>
                </a:lnTo>
                <a:lnTo>
                  <a:pt x="0" y="478165"/>
                </a:lnTo>
                <a:lnTo>
                  <a:pt x="0" y="0"/>
                </a:lnTo>
                <a:close/>
              </a:path>
            </a:pathLst>
          </a:custGeom>
          <a:blipFill>
            <a:blip r:embed="rId4">
              <a:extLst>
                <a:ext uri="{96DAC541-7B7A-43D3-8B79-37D633B846F1}">
                  <asvg:svgBlip xmlns:asvg="http://schemas.microsoft.com/office/drawing/2016/SVG/main" r:embed="rId5"/>
                </a:ext>
              </a:extLst>
            </a:blip>
            <a:stretch>
              <a:fillRect l="0" t="0" r="-83488" b="-193406"/>
            </a:stretch>
          </a:blipFill>
        </p:spPr>
      </p:sp>
      <p:sp>
        <p:nvSpPr>
          <p:cNvPr name="Freeform 5" id="5"/>
          <p:cNvSpPr/>
          <p:nvPr/>
        </p:nvSpPr>
        <p:spPr>
          <a:xfrm flipH="false" flipV="false" rot="0">
            <a:off x="16688171" y="1472791"/>
            <a:ext cx="747537" cy="821846"/>
          </a:xfrm>
          <a:custGeom>
            <a:avLst/>
            <a:gdLst/>
            <a:ahLst/>
            <a:cxnLst/>
            <a:rect r="r" b="b" t="t" l="l"/>
            <a:pathLst>
              <a:path h="821846" w="747537">
                <a:moveTo>
                  <a:pt x="0" y="0"/>
                </a:moveTo>
                <a:lnTo>
                  <a:pt x="747537" y="0"/>
                </a:lnTo>
                <a:lnTo>
                  <a:pt x="747537" y="821846"/>
                </a:lnTo>
                <a:lnTo>
                  <a:pt x="0" y="8218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53260">
            <a:off x="13086957" y="4793272"/>
            <a:ext cx="5160275" cy="3141317"/>
          </a:xfrm>
          <a:custGeom>
            <a:avLst/>
            <a:gdLst/>
            <a:ahLst/>
            <a:cxnLst/>
            <a:rect r="r" b="b" t="t" l="l"/>
            <a:pathLst>
              <a:path h="3141317" w="5160275">
                <a:moveTo>
                  <a:pt x="0" y="0"/>
                </a:moveTo>
                <a:lnTo>
                  <a:pt x="5160275" y="0"/>
                </a:lnTo>
                <a:lnTo>
                  <a:pt x="5160275" y="3141317"/>
                </a:lnTo>
                <a:lnTo>
                  <a:pt x="0" y="3141317"/>
                </a:lnTo>
                <a:lnTo>
                  <a:pt x="0" y="0"/>
                </a:lnTo>
                <a:close/>
              </a:path>
            </a:pathLst>
          </a:custGeom>
          <a:blipFill>
            <a:blip r:embed="rId8"/>
            <a:stretch>
              <a:fillRect l="0" t="0" r="0" b="0"/>
            </a:stretch>
          </a:blipFill>
        </p:spPr>
      </p:sp>
      <p:sp>
        <p:nvSpPr>
          <p:cNvPr name="Freeform 7" id="7"/>
          <p:cNvSpPr/>
          <p:nvPr/>
        </p:nvSpPr>
        <p:spPr>
          <a:xfrm flipH="false" flipV="false" rot="445608">
            <a:off x="9593740" y="939489"/>
            <a:ext cx="8011043" cy="1191643"/>
          </a:xfrm>
          <a:custGeom>
            <a:avLst/>
            <a:gdLst/>
            <a:ahLst/>
            <a:cxnLst/>
            <a:rect r="r" b="b" t="t" l="l"/>
            <a:pathLst>
              <a:path h="1191643" w="8011043">
                <a:moveTo>
                  <a:pt x="0" y="0"/>
                </a:moveTo>
                <a:lnTo>
                  <a:pt x="8011043" y="0"/>
                </a:lnTo>
                <a:lnTo>
                  <a:pt x="8011043" y="1191643"/>
                </a:lnTo>
                <a:lnTo>
                  <a:pt x="0" y="1191643"/>
                </a:lnTo>
                <a:lnTo>
                  <a:pt x="0" y="0"/>
                </a:lnTo>
                <a:close/>
              </a:path>
            </a:pathLst>
          </a:custGeom>
          <a:blipFill>
            <a:blip r:embed="rId9"/>
            <a:stretch>
              <a:fillRect l="0" t="0" r="0" b="0"/>
            </a:stretch>
          </a:blipFill>
        </p:spPr>
      </p:sp>
      <p:sp>
        <p:nvSpPr>
          <p:cNvPr name="Freeform 8" id="8"/>
          <p:cNvSpPr/>
          <p:nvPr/>
        </p:nvSpPr>
        <p:spPr>
          <a:xfrm flipH="false" flipV="false" rot="0">
            <a:off x="9144000" y="5889150"/>
            <a:ext cx="3913949" cy="4145644"/>
          </a:xfrm>
          <a:custGeom>
            <a:avLst/>
            <a:gdLst/>
            <a:ahLst/>
            <a:cxnLst/>
            <a:rect r="r" b="b" t="t" l="l"/>
            <a:pathLst>
              <a:path h="4145644" w="3913949">
                <a:moveTo>
                  <a:pt x="0" y="0"/>
                </a:moveTo>
                <a:lnTo>
                  <a:pt x="3913949" y="0"/>
                </a:lnTo>
                <a:lnTo>
                  <a:pt x="3913949" y="4145644"/>
                </a:lnTo>
                <a:lnTo>
                  <a:pt x="0" y="4145644"/>
                </a:lnTo>
                <a:lnTo>
                  <a:pt x="0" y="0"/>
                </a:lnTo>
                <a:close/>
              </a:path>
            </a:pathLst>
          </a:custGeom>
          <a:blipFill>
            <a:blip r:embed="rId10"/>
            <a:stretch>
              <a:fillRect l="0" t="0" r="0" b="-15135"/>
            </a:stretch>
          </a:blipFill>
        </p:spPr>
      </p:sp>
      <p:sp>
        <p:nvSpPr>
          <p:cNvPr name="Freeform 9" id="9"/>
          <p:cNvSpPr/>
          <p:nvPr/>
        </p:nvSpPr>
        <p:spPr>
          <a:xfrm flipH="false" flipV="false" rot="-398033">
            <a:off x="1184839" y="4624613"/>
            <a:ext cx="7289887" cy="4793100"/>
          </a:xfrm>
          <a:custGeom>
            <a:avLst/>
            <a:gdLst/>
            <a:ahLst/>
            <a:cxnLst/>
            <a:rect r="r" b="b" t="t" l="l"/>
            <a:pathLst>
              <a:path h="4793100" w="7289887">
                <a:moveTo>
                  <a:pt x="0" y="0"/>
                </a:moveTo>
                <a:lnTo>
                  <a:pt x="7289887" y="0"/>
                </a:lnTo>
                <a:lnTo>
                  <a:pt x="7289887" y="4793100"/>
                </a:lnTo>
                <a:lnTo>
                  <a:pt x="0" y="4793100"/>
                </a:lnTo>
                <a:lnTo>
                  <a:pt x="0" y="0"/>
                </a:lnTo>
                <a:close/>
              </a:path>
            </a:pathLst>
          </a:custGeom>
          <a:blipFill>
            <a:blip r:embed="rId11"/>
            <a:stretch>
              <a:fillRect l="0" t="0" r="0" b="0"/>
            </a:stretch>
          </a:blipFill>
        </p:spPr>
      </p:sp>
      <p:sp>
        <p:nvSpPr>
          <p:cNvPr name="Freeform 10" id="10"/>
          <p:cNvSpPr/>
          <p:nvPr/>
        </p:nvSpPr>
        <p:spPr>
          <a:xfrm flipH="false" flipV="false" rot="0">
            <a:off x="710189" y="1714277"/>
            <a:ext cx="1559683" cy="1559683"/>
          </a:xfrm>
          <a:custGeom>
            <a:avLst/>
            <a:gdLst/>
            <a:ahLst/>
            <a:cxnLst/>
            <a:rect r="r" b="b" t="t" l="l"/>
            <a:pathLst>
              <a:path h="1559683" w="1559683">
                <a:moveTo>
                  <a:pt x="0" y="0"/>
                </a:moveTo>
                <a:lnTo>
                  <a:pt x="1559683" y="0"/>
                </a:lnTo>
                <a:lnTo>
                  <a:pt x="1559683" y="1559683"/>
                </a:lnTo>
                <a:lnTo>
                  <a:pt x="0" y="155968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1138748" y="2427673"/>
            <a:ext cx="5828741" cy="1590040"/>
          </a:xfrm>
          <a:prstGeom prst="rect">
            <a:avLst/>
          </a:prstGeom>
        </p:spPr>
        <p:txBody>
          <a:bodyPr anchor="t" rtlCol="false" tIns="0" lIns="0" bIns="0" rIns="0">
            <a:spAutoFit/>
          </a:bodyPr>
          <a:lstStyle/>
          <a:p>
            <a:pPr algn="l">
              <a:lnSpc>
                <a:spcPts val="5600"/>
              </a:lnSpc>
            </a:pPr>
            <a:r>
              <a:rPr lang="en-US" sz="5600" spc="-308">
                <a:solidFill>
                  <a:srgbClr val="3E3F54"/>
                </a:solidFill>
                <a:latin typeface="Heading Now 71-78"/>
                <a:ea typeface="Heading Now 71-78"/>
                <a:cs typeface="Heading Now 71-78"/>
                <a:sym typeface="Heading Now 71-78"/>
              </a:rPr>
              <a:t>Existing Structure</a:t>
            </a:r>
          </a:p>
        </p:txBody>
      </p:sp>
      <p:sp>
        <p:nvSpPr>
          <p:cNvPr name="Freeform 12" id="12"/>
          <p:cNvSpPr/>
          <p:nvPr/>
        </p:nvSpPr>
        <p:spPr>
          <a:xfrm flipH="false" flipV="false" rot="0">
            <a:off x="-212472" y="1657586"/>
            <a:ext cx="792881" cy="779006"/>
          </a:xfrm>
          <a:custGeom>
            <a:avLst/>
            <a:gdLst/>
            <a:ahLst/>
            <a:cxnLst/>
            <a:rect r="r" b="b" t="t" l="l"/>
            <a:pathLst>
              <a:path h="779006" w="792881">
                <a:moveTo>
                  <a:pt x="0" y="0"/>
                </a:moveTo>
                <a:lnTo>
                  <a:pt x="792881" y="0"/>
                </a:lnTo>
                <a:lnTo>
                  <a:pt x="792881" y="779006"/>
                </a:lnTo>
                <a:lnTo>
                  <a:pt x="0" y="77900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09475" y="2666319"/>
            <a:ext cx="11301259" cy="6314578"/>
          </a:xfrm>
          <a:custGeom>
            <a:avLst/>
            <a:gdLst/>
            <a:ahLst/>
            <a:cxnLst/>
            <a:rect r="r" b="b" t="t" l="l"/>
            <a:pathLst>
              <a:path h="6314578" w="11301259">
                <a:moveTo>
                  <a:pt x="0" y="0"/>
                </a:moveTo>
                <a:lnTo>
                  <a:pt x="11301259" y="0"/>
                </a:lnTo>
                <a:lnTo>
                  <a:pt x="11301259" y="6314578"/>
                </a:lnTo>
                <a:lnTo>
                  <a:pt x="0" y="6314578"/>
                </a:lnTo>
                <a:lnTo>
                  <a:pt x="0" y="0"/>
                </a:lnTo>
                <a:close/>
              </a:path>
            </a:pathLst>
          </a:custGeom>
          <a:blipFill>
            <a:blip r:embed="rId3"/>
            <a:stretch>
              <a:fillRect l="0" t="0" r="0" b="0"/>
            </a:stretch>
          </a:blipFill>
        </p:spPr>
      </p:sp>
      <p:sp>
        <p:nvSpPr>
          <p:cNvPr name="TextBox 3" id="3"/>
          <p:cNvSpPr txBox="true"/>
          <p:nvPr/>
        </p:nvSpPr>
        <p:spPr>
          <a:xfrm rot="0">
            <a:off x="5472517" y="990600"/>
            <a:ext cx="7719564" cy="885190"/>
          </a:xfrm>
          <a:prstGeom prst="rect">
            <a:avLst/>
          </a:prstGeom>
        </p:spPr>
        <p:txBody>
          <a:bodyPr anchor="t" rtlCol="false" tIns="0" lIns="0" bIns="0" rIns="0">
            <a:spAutoFit/>
          </a:bodyPr>
          <a:lstStyle/>
          <a:p>
            <a:pPr algn="ctr">
              <a:lnSpc>
                <a:spcPts val="5600"/>
              </a:lnSpc>
            </a:pPr>
            <a:r>
              <a:rPr lang="en-US" sz="5600" spc="-308">
                <a:solidFill>
                  <a:srgbClr val="3E3F54"/>
                </a:solidFill>
                <a:latin typeface="Heading Now 71-78"/>
                <a:ea typeface="Heading Now 71-78"/>
                <a:cs typeface="Heading Now 71-78"/>
                <a:sym typeface="Heading Now 71-78"/>
              </a:rPr>
              <a:t>Workflow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6906" y="1450818"/>
            <a:ext cx="4647749" cy="3525995"/>
            <a:chOff x="0" y="0"/>
            <a:chExt cx="1224098" cy="928657"/>
          </a:xfrm>
        </p:grpSpPr>
        <p:sp>
          <p:nvSpPr>
            <p:cNvPr name="Freeform 3" id="3"/>
            <p:cNvSpPr/>
            <p:nvPr/>
          </p:nvSpPr>
          <p:spPr>
            <a:xfrm flipH="false" flipV="false" rot="0">
              <a:off x="0" y="0"/>
              <a:ext cx="1224099" cy="928657"/>
            </a:xfrm>
            <a:custGeom>
              <a:avLst/>
              <a:gdLst/>
              <a:ahLst/>
              <a:cxnLst/>
              <a:rect r="r" b="b" t="t" l="l"/>
              <a:pathLst>
                <a:path h="928657" w="1224099">
                  <a:moveTo>
                    <a:pt x="84953" y="0"/>
                  </a:moveTo>
                  <a:lnTo>
                    <a:pt x="1139146" y="0"/>
                  </a:lnTo>
                  <a:cubicBezTo>
                    <a:pt x="1186064" y="0"/>
                    <a:pt x="1224099" y="38035"/>
                    <a:pt x="1224099" y="84953"/>
                  </a:cubicBezTo>
                  <a:lnTo>
                    <a:pt x="1224099" y="843705"/>
                  </a:lnTo>
                  <a:cubicBezTo>
                    <a:pt x="1224099" y="890623"/>
                    <a:pt x="1186064" y="928657"/>
                    <a:pt x="1139146" y="928657"/>
                  </a:cubicBezTo>
                  <a:lnTo>
                    <a:pt x="84953" y="928657"/>
                  </a:lnTo>
                  <a:cubicBezTo>
                    <a:pt x="38035" y="928657"/>
                    <a:pt x="0" y="890623"/>
                    <a:pt x="0" y="843705"/>
                  </a:cubicBezTo>
                  <a:lnTo>
                    <a:pt x="0" y="84953"/>
                  </a:lnTo>
                  <a:cubicBezTo>
                    <a:pt x="0" y="38035"/>
                    <a:pt x="38035" y="0"/>
                    <a:pt x="84953" y="0"/>
                  </a:cubicBezTo>
                  <a:close/>
                </a:path>
              </a:pathLst>
            </a:custGeom>
            <a:solidFill>
              <a:srgbClr val="FF886A"/>
            </a:solidFill>
          </p:spPr>
        </p:sp>
        <p:sp>
          <p:nvSpPr>
            <p:cNvPr name="TextBox 4" id="4"/>
            <p:cNvSpPr txBox="true"/>
            <p:nvPr/>
          </p:nvSpPr>
          <p:spPr>
            <a:xfrm>
              <a:off x="0" y="-38100"/>
              <a:ext cx="1224098" cy="9667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476906" y="5310188"/>
            <a:ext cx="4647749" cy="3525995"/>
            <a:chOff x="0" y="0"/>
            <a:chExt cx="1224098" cy="928657"/>
          </a:xfrm>
        </p:grpSpPr>
        <p:sp>
          <p:nvSpPr>
            <p:cNvPr name="Freeform 6" id="6"/>
            <p:cNvSpPr/>
            <p:nvPr/>
          </p:nvSpPr>
          <p:spPr>
            <a:xfrm flipH="false" flipV="false" rot="0">
              <a:off x="0" y="0"/>
              <a:ext cx="1224099" cy="928657"/>
            </a:xfrm>
            <a:custGeom>
              <a:avLst/>
              <a:gdLst/>
              <a:ahLst/>
              <a:cxnLst/>
              <a:rect r="r" b="b" t="t" l="l"/>
              <a:pathLst>
                <a:path h="928657" w="1224099">
                  <a:moveTo>
                    <a:pt x="84953" y="0"/>
                  </a:moveTo>
                  <a:lnTo>
                    <a:pt x="1139146" y="0"/>
                  </a:lnTo>
                  <a:cubicBezTo>
                    <a:pt x="1186064" y="0"/>
                    <a:pt x="1224099" y="38035"/>
                    <a:pt x="1224099" y="84953"/>
                  </a:cubicBezTo>
                  <a:lnTo>
                    <a:pt x="1224099" y="843705"/>
                  </a:lnTo>
                  <a:cubicBezTo>
                    <a:pt x="1224099" y="890623"/>
                    <a:pt x="1186064" y="928657"/>
                    <a:pt x="1139146" y="928657"/>
                  </a:cubicBezTo>
                  <a:lnTo>
                    <a:pt x="84953" y="928657"/>
                  </a:lnTo>
                  <a:cubicBezTo>
                    <a:pt x="38035" y="928657"/>
                    <a:pt x="0" y="890623"/>
                    <a:pt x="0" y="843705"/>
                  </a:cubicBezTo>
                  <a:lnTo>
                    <a:pt x="0" y="84953"/>
                  </a:lnTo>
                  <a:cubicBezTo>
                    <a:pt x="0" y="38035"/>
                    <a:pt x="38035" y="0"/>
                    <a:pt x="84953" y="0"/>
                  </a:cubicBezTo>
                  <a:close/>
                </a:path>
              </a:pathLst>
            </a:custGeom>
            <a:solidFill>
              <a:srgbClr val="FBC76F"/>
            </a:solidFill>
          </p:spPr>
        </p:sp>
        <p:sp>
          <p:nvSpPr>
            <p:cNvPr name="TextBox 7" id="7"/>
            <p:cNvSpPr txBox="true"/>
            <p:nvPr/>
          </p:nvSpPr>
          <p:spPr>
            <a:xfrm>
              <a:off x="0" y="-38100"/>
              <a:ext cx="1224098" cy="9667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6510902" y="1450818"/>
            <a:ext cx="4647749" cy="3525995"/>
            <a:chOff x="0" y="0"/>
            <a:chExt cx="1224098" cy="928657"/>
          </a:xfrm>
        </p:grpSpPr>
        <p:sp>
          <p:nvSpPr>
            <p:cNvPr name="Freeform 9" id="9"/>
            <p:cNvSpPr/>
            <p:nvPr/>
          </p:nvSpPr>
          <p:spPr>
            <a:xfrm flipH="false" flipV="false" rot="0">
              <a:off x="0" y="0"/>
              <a:ext cx="1224099" cy="928657"/>
            </a:xfrm>
            <a:custGeom>
              <a:avLst/>
              <a:gdLst/>
              <a:ahLst/>
              <a:cxnLst/>
              <a:rect r="r" b="b" t="t" l="l"/>
              <a:pathLst>
                <a:path h="928657" w="1224099">
                  <a:moveTo>
                    <a:pt x="84953" y="0"/>
                  </a:moveTo>
                  <a:lnTo>
                    <a:pt x="1139146" y="0"/>
                  </a:lnTo>
                  <a:cubicBezTo>
                    <a:pt x="1186064" y="0"/>
                    <a:pt x="1224099" y="38035"/>
                    <a:pt x="1224099" y="84953"/>
                  </a:cubicBezTo>
                  <a:lnTo>
                    <a:pt x="1224099" y="843705"/>
                  </a:lnTo>
                  <a:cubicBezTo>
                    <a:pt x="1224099" y="890623"/>
                    <a:pt x="1186064" y="928657"/>
                    <a:pt x="1139146" y="928657"/>
                  </a:cubicBezTo>
                  <a:lnTo>
                    <a:pt x="84953" y="928657"/>
                  </a:lnTo>
                  <a:cubicBezTo>
                    <a:pt x="38035" y="928657"/>
                    <a:pt x="0" y="890623"/>
                    <a:pt x="0" y="843705"/>
                  </a:cubicBezTo>
                  <a:lnTo>
                    <a:pt x="0" y="84953"/>
                  </a:lnTo>
                  <a:cubicBezTo>
                    <a:pt x="0" y="38035"/>
                    <a:pt x="38035" y="0"/>
                    <a:pt x="84953" y="0"/>
                  </a:cubicBezTo>
                  <a:close/>
                </a:path>
              </a:pathLst>
            </a:custGeom>
            <a:solidFill>
              <a:srgbClr val="FBC76F"/>
            </a:solidFill>
          </p:spPr>
        </p:sp>
        <p:sp>
          <p:nvSpPr>
            <p:cNvPr name="TextBox 10" id="10"/>
            <p:cNvSpPr txBox="true"/>
            <p:nvPr/>
          </p:nvSpPr>
          <p:spPr>
            <a:xfrm>
              <a:off x="0" y="-38100"/>
              <a:ext cx="1224098" cy="9667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6510902" y="5310188"/>
            <a:ext cx="4647749" cy="3525995"/>
            <a:chOff x="0" y="0"/>
            <a:chExt cx="1224098" cy="928657"/>
          </a:xfrm>
        </p:grpSpPr>
        <p:sp>
          <p:nvSpPr>
            <p:cNvPr name="Freeform 12" id="12"/>
            <p:cNvSpPr/>
            <p:nvPr/>
          </p:nvSpPr>
          <p:spPr>
            <a:xfrm flipH="false" flipV="false" rot="0">
              <a:off x="0" y="0"/>
              <a:ext cx="1224099" cy="928657"/>
            </a:xfrm>
            <a:custGeom>
              <a:avLst/>
              <a:gdLst/>
              <a:ahLst/>
              <a:cxnLst/>
              <a:rect r="r" b="b" t="t" l="l"/>
              <a:pathLst>
                <a:path h="928657" w="1224099">
                  <a:moveTo>
                    <a:pt x="84953" y="0"/>
                  </a:moveTo>
                  <a:lnTo>
                    <a:pt x="1139146" y="0"/>
                  </a:lnTo>
                  <a:cubicBezTo>
                    <a:pt x="1186064" y="0"/>
                    <a:pt x="1224099" y="38035"/>
                    <a:pt x="1224099" y="84953"/>
                  </a:cubicBezTo>
                  <a:lnTo>
                    <a:pt x="1224099" y="843705"/>
                  </a:lnTo>
                  <a:cubicBezTo>
                    <a:pt x="1224099" y="890623"/>
                    <a:pt x="1186064" y="928657"/>
                    <a:pt x="1139146" y="928657"/>
                  </a:cubicBezTo>
                  <a:lnTo>
                    <a:pt x="84953" y="928657"/>
                  </a:lnTo>
                  <a:cubicBezTo>
                    <a:pt x="38035" y="928657"/>
                    <a:pt x="0" y="890623"/>
                    <a:pt x="0" y="843705"/>
                  </a:cubicBezTo>
                  <a:lnTo>
                    <a:pt x="0" y="84953"/>
                  </a:lnTo>
                  <a:cubicBezTo>
                    <a:pt x="0" y="38035"/>
                    <a:pt x="38035" y="0"/>
                    <a:pt x="84953" y="0"/>
                  </a:cubicBezTo>
                  <a:close/>
                </a:path>
              </a:pathLst>
            </a:custGeom>
            <a:solidFill>
              <a:srgbClr val="FF886A"/>
            </a:solidFill>
          </p:spPr>
        </p:sp>
        <p:sp>
          <p:nvSpPr>
            <p:cNvPr name="TextBox 13" id="13"/>
            <p:cNvSpPr txBox="true"/>
            <p:nvPr/>
          </p:nvSpPr>
          <p:spPr>
            <a:xfrm>
              <a:off x="0" y="-38100"/>
              <a:ext cx="1224098" cy="9667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1967927" y="1028700"/>
            <a:ext cx="1597955" cy="247855"/>
          </a:xfrm>
          <a:custGeom>
            <a:avLst/>
            <a:gdLst/>
            <a:ahLst/>
            <a:cxnLst/>
            <a:rect r="r" b="b" t="t" l="l"/>
            <a:pathLst>
              <a:path h="247855" w="1597955">
                <a:moveTo>
                  <a:pt x="0" y="0"/>
                </a:moveTo>
                <a:lnTo>
                  <a:pt x="1597955" y="0"/>
                </a:lnTo>
                <a:lnTo>
                  <a:pt x="1597955" y="247855"/>
                </a:lnTo>
                <a:lnTo>
                  <a:pt x="0" y="247855"/>
                </a:lnTo>
                <a:lnTo>
                  <a:pt x="0" y="0"/>
                </a:lnTo>
                <a:close/>
              </a:path>
            </a:pathLst>
          </a:custGeom>
          <a:blipFill>
            <a:blip r:embed="rId3">
              <a:extLst>
                <a:ext uri="{96DAC541-7B7A-43D3-8B79-37D633B846F1}">
                  <asvg:svgBlip xmlns:asvg="http://schemas.microsoft.com/office/drawing/2016/SVG/main" r:embed="rId4"/>
                </a:ext>
              </a:extLst>
            </a:blip>
            <a:stretch>
              <a:fillRect l="0" t="0" r="-28673" b="-729577"/>
            </a:stretch>
          </a:blipFill>
        </p:spPr>
      </p:sp>
      <p:sp>
        <p:nvSpPr>
          <p:cNvPr name="Freeform 15" id="15"/>
          <p:cNvSpPr/>
          <p:nvPr/>
        </p:nvSpPr>
        <p:spPr>
          <a:xfrm flipH="false" flipV="false" rot="0">
            <a:off x="11274743" y="8769518"/>
            <a:ext cx="1627905" cy="488782"/>
          </a:xfrm>
          <a:custGeom>
            <a:avLst/>
            <a:gdLst/>
            <a:ahLst/>
            <a:cxnLst/>
            <a:rect r="r" b="b" t="t" l="l"/>
            <a:pathLst>
              <a:path h="488782" w="1627905">
                <a:moveTo>
                  <a:pt x="0" y="0"/>
                </a:moveTo>
                <a:lnTo>
                  <a:pt x="1627904" y="0"/>
                </a:lnTo>
                <a:lnTo>
                  <a:pt x="1627904" y="488782"/>
                </a:lnTo>
                <a:lnTo>
                  <a:pt x="0" y="488782"/>
                </a:lnTo>
                <a:lnTo>
                  <a:pt x="0" y="0"/>
                </a:lnTo>
                <a:close/>
              </a:path>
            </a:pathLst>
          </a:custGeom>
          <a:blipFill>
            <a:blip r:embed="rId5">
              <a:extLst>
                <a:ext uri="{96DAC541-7B7A-43D3-8B79-37D633B846F1}">
                  <asvg:svgBlip xmlns:asvg="http://schemas.microsoft.com/office/drawing/2016/SVG/main" r:embed="rId6"/>
                </a:ext>
              </a:extLst>
            </a:blip>
            <a:stretch>
              <a:fillRect l="0" t="0" r="-89251" b="-454409"/>
            </a:stretch>
          </a:blipFill>
          <a:ln cap="sq">
            <a:noFill/>
            <a:prstDash val="solid"/>
            <a:miter/>
          </a:ln>
        </p:spPr>
      </p:sp>
      <p:sp>
        <p:nvSpPr>
          <p:cNvPr name="Freeform 16" id="16"/>
          <p:cNvSpPr/>
          <p:nvPr/>
        </p:nvSpPr>
        <p:spPr>
          <a:xfrm flipH="false" flipV="false" rot="0">
            <a:off x="10690742" y="1238864"/>
            <a:ext cx="584000" cy="580837"/>
          </a:xfrm>
          <a:custGeom>
            <a:avLst/>
            <a:gdLst/>
            <a:ahLst/>
            <a:cxnLst/>
            <a:rect r="r" b="b" t="t" l="l"/>
            <a:pathLst>
              <a:path h="580837" w="584000">
                <a:moveTo>
                  <a:pt x="0" y="0"/>
                </a:moveTo>
                <a:lnTo>
                  <a:pt x="584001" y="0"/>
                </a:lnTo>
                <a:lnTo>
                  <a:pt x="584001" y="580837"/>
                </a:lnTo>
                <a:lnTo>
                  <a:pt x="0" y="5808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17" id="17"/>
          <p:cNvSpPr txBox="true"/>
          <p:nvPr/>
        </p:nvSpPr>
        <p:spPr>
          <a:xfrm rot="0">
            <a:off x="11659914" y="1491183"/>
            <a:ext cx="6320730" cy="1590040"/>
          </a:xfrm>
          <a:prstGeom prst="rect">
            <a:avLst/>
          </a:prstGeom>
        </p:spPr>
        <p:txBody>
          <a:bodyPr anchor="t" rtlCol="false" tIns="0" lIns="0" bIns="0" rIns="0">
            <a:spAutoFit/>
          </a:bodyPr>
          <a:lstStyle/>
          <a:p>
            <a:pPr algn="l">
              <a:lnSpc>
                <a:spcPts val="5600"/>
              </a:lnSpc>
            </a:pPr>
            <a:r>
              <a:rPr lang="en-US" sz="5600" spc="-308">
                <a:solidFill>
                  <a:srgbClr val="3E3F54"/>
                </a:solidFill>
                <a:latin typeface="Heading Now 71-78"/>
                <a:ea typeface="Heading Now 71-78"/>
                <a:cs typeface="Heading Now 71-78"/>
                <a:sym typeface="Heading Now 71-78"/>
              </a:rPr>
              <a:t>FAIR </a:t>
            </a:r>
          </a:p>
          <a:p>
            <a:pPr algn="l">
              <a:lnSpc>
                <a:spcPts val="5600"/>
              </a:lnSpc>
            </a:pPr>
            <a:r>
              <a:rPr lang="en-US" sz="5600" spc="-308">
                <a:solidFill>
                  <a:srgbClr val="3E3F54"/>
                </a:solidFill>
                <a:latin typeface="Heading Now 71-78"/>
                <a:ea typeface="Heading Now 71-78"/>
                <a:cs typeface="Heading Now 71-78"/>
                <a:sym typeface="Heading Now 71-78"/>
              </a:rPr>
              <a:t>assessment</a:t>
            </a:r>
          </a:p>
        </p:txBody>
      </p:sp>
      <p:sp>
        <p:nvSpPr>
          <p:cNvPr name="TextBox 18" id="18"/>
          <p:cNvSpPr txBox="true"/>
          <p:nvPr/>
        </p:nvSpPr>
        <p:spPr>
          <a:xfrm rot="0">
            <a:off x="1874387" y="2565850"/>
            <a:ext cx="3972414" cy="1676400"/>
          </a:xfrm>
          <a:prstGeom prst="rect">
            <a:avLst/>
          </a:prstGeom>
        </p:spPr>
        <p:txBody>
          <a:bodyPr anchor="t" rtlCol="false" tIns="0" lIns="0" bIns="0" rIns="0">
            <a:spAutoFit/>
          </a:bodyPr>
          <a:lstStyle/>
          <a:p>
            <a:pPr algn="l">
              <a:lnSpc>
                <a:spcPts val="3359"/>
              </a:lnSpc>
            </a:pPr>
            <a:r>
              <a:rPr lang="en-US" sz="2799">
                <a:solidFill>
                  <a:srgbClr val="3E3F54"/>
                </a:solidFill>
                <a:latin typeface="TT Firs Neue"/>
                <a:ea typeface="TT Firs Neue"/>
                <a:cs typeface="TT Firs Neue"/>
                <a:sym typeface="TT Firs Neue"/>
              </a:rPr>
              <a:t>Course IDs, names, descriptions, and metadata make courses</a:t>
            </a:r>
            <a:r>
              <a:rPr lang="en-US" sz="2799">
                <a:solidFill>
                  <a:srgbClr val="3E3F54"/>
                </a:solidFill>
                <a:latin typeface="TT Firs Neue"/>
                <a:ea typeface="TT Firs Neue"/>
                <a:cs typeface="TT Firs Neue"/>
                <a:sym typeface="TT Firs Neue"/>
              </a:rPr>
              <a:t> easy to locate.</a:t>
            </a:r>
          </a:p>
        </p:txBody>
      </p:sp>
      <p:sp>
        <p:nvSpPr>
          <p:cNvPr name="TextBox 19" id="19"/>
          <p:cNvSpPr txBox="true"/>
          <p:nvPr/>
        </p:nvSpPr>
        <p:spPr>
          <a:xfrm rot="0">
            <a:off x="1874387" y="1782517"/>
            <a:ext cx="3382990" cy="548005"/>
          </a:xfrm>
          <a:prstGeom prst="rect">
            <a:avLst/>
          </a:prstGeom>
        </p:spPr>
        <p:txBody>
          <a:bodyPr anchor="t" rtlCol="false" tIns="0" lIns="0" bIns="0" rIns="0">
            <a:spAutoFit/>
          </a:bodyPr>
          <a:lstStyle/>
          <a:p>
            <a:pPr algn="l">
              <a:lnSpc>
                <a:spcPts val="3919"/>
              </a:lnSpc>
              <a:spcBef>
                <a:spcPct val="0"/>
              </a:spcBef>
            </a:pPr>
            <a:r>
              <a:rPr lang="en-US" sz="2799">
                <a:solidFill>
                  <a:srgbClr val="3E3F54"/>
                </a:solidFill>
                <a:latin typeface="Heading Now 71-78"/>
                <a:ea typeface="Heading Now 71-78"/>
                <a:cs typeface="Heading Now 71-78"/>
                <a:sym typeface="Heading Now 71-78"/>
              </a:rPr>
              <a:t>FINDABLE</a:t>
            </a:r>
          </a:p>
        </p:txBody>
      </p:sp>
      <p:sp>
        <p:nvSpPr>
          <p:cNvPr name="TextBox 20" id="20"/>
          <p:cNvSpPr txBox="true"/>
          <p:nvPr/>
        </p:nvSpPr>
        <p:spPr>
          <a:xfrm rot="0">
            <a:off x="6918217" y="1782517"/>
            <a:ext cx="3382990" cy="548005"/>
          </a:xfrm>
          <a:prstGeom prst="rect">
            <a:avLst/>
          </a:prstGeom>
        </p:spPr>
        <p:txBody>
          <a:bodyPr anchor="t" rtlCol="false" tIns="0" lIns="0" bIns="0" rIns="0">
            <a:spAutoFit/>
          </a:bodyPr>
          <a:lstStyle/>
          <a:p>
            <a:pPr algn="l">
              <a:lnSpc>
                <a:spcPts val="3919"/>
              </a:lnSpc>
              <a:spcBef>
                <a:spcPct val="0"/>
              </a:spcBef>
            </a:pPr>
            <a:r>
              <a:rPr lang="en-US" sz="2799">
                <a:solidFill>
                  <a:srgbClr val="3E3F54"/>
                </a:solidFill>
                <a:latin typeface="Heading Now 71-78"/>
                <a:ea typeface="Heading Now 71-78"/>
                <a:cs typeface="Heading Now 71-78"/>
                <a:sym typeface="Heading Now 71-78"/>
              </a:rPr>
              <a:t>ACCESSIBLE</a:t>
            </a:r>
          </a:p>
        </p:txBody>
      </p:sp>
      <p:sp>
        <p:nvSpPr>
          <p:cNvPr name="TextBox 21" id="21"/>
          <p:cNvSpPr txBox="true"/>
          <p:nvPr/>
        </p:nvSpPr>
        <p:spPr>
          <a:xfrm rot="0">
            <a:off x="1874387" y="5621906"/>
            <a:ext cx="3382990" cy="548005"/>
          </a:xfrm>
          <a:prstGeom prst="rect">
            <a:avLst/>
          </a:prstGeom>
        </p:spPr>
        <p:txBody>
          <a:bodyPr anchor="t" rtlCol="false" tIns="0" lIns="0" bIns="0" rIns="0">
            <a:spAutoFit/>
          </a:bodyPr>
          <a:lstStyle/>
          <a:p>
            <a:pPr algn="l">
              <a:lnSpc>
                <a:spcPts val="3919"/>
              </a:lnSpc>
              <a:spcBef>
                <a:spcPct val="0"/>
              </a:spcBef>
            </a:pPr>
            <a:r>
              <a:rPr lang="en-US" sz="2799">
                <a:solidFill>
                  <a:srgbClr val="3E3F54"/>
                </a:solidFill>
                <a:latin typeface="Heading Now 71-78"/>
                <a:ea typeface="Heading Now 71-78"/>
                <a:cs typeface="Heading Now 71-78"/>
                <a:sym typeface="Heading Now 71-78"/>
              </a:rPr>
              <a:t>INTEROPERABLE</a:t>
            </a:r>
          </a:p>
        </p:txBody>
      </p:sp>
      <p:sp>
        <p:nvSpPr>
          <p:cNvPr name="TextBox 22" id="22"/>
          <p:cNvSpPr txBox="true"/>
          <p:nvPr/>
        </p:nvSpPr>
        <p:spPr>
          <a:xfrm rot="0">
            <a:off x="6918217" y="5621906"/>
            <a:ext cx="3382990" cy="548005"/>
          </a:xfrm>
          <a:prstGeom prst="rect">
            <a:avLst/>
          </a:prstGeom>
        </p:spPr>
        <p:txBody>
          <a:bodyPr anchor="t" rtlCol="false" tIns="0" lIns="0" bIns="0" rIns="0">
            <a:spAutoFit/>
          </a:bodyPr>
          <a:lstStyle/>
          <a:p>
            <a:pPr algn="l">
              <a:lnSpc>
                <a:spcPts val="3919"/>
              </a:lnSpc>
              <a:spcBef>
                <a:spcPct val="0"/>
              </a:spcBef>
            </a:pPr>
            <a:r>
              <a:rPr lang="en-US" sz="2799">
                <a:solidFill>
                  <a:srgbClr val="3E3F54"/>
                </a:solidFill>
                <a:latin typeface="Heading Now 71-78"/>
                <a:ea typeface="Heading Now 71-78"/>
                <a:cs typeface="Heading Now 71-78"/>
                <a:sym typeface="Heading Now 71-78"/>
              </a:rPr>
              <a:t>REUSABLE</a:t>
            </a:r>
          </a:p>
        </p:txBody>
      </p:sp>
      <p:sp>
        <p:nvSpPr>
          <p:cNvPr name="TextBox 23" id="23"/>
          <p:cNvSpPr txBox="true"/>
          <p:nvPr/>
        </p:nvSpPr>
        <p:spPr>
          <a:xfrm rot="0">
            <a:off x="6918217" y="2565850"/>
            <a:ext cx="4055001" cy="1676400"/>
          </a:xfrm>
          <a:prstGeom prst="rect">
            <a:avLst/>
          </a:prstGeom>
        </p:spPr>
        <p:txBody>
          <a:bodyPr anchor="t" rtlCol="false" tIns="0" lIns="0" bIns="0" rIns="0">
            <a:spAutoFit/>
          </a:bodyPr>
          <a:lstStyle/>
          <a:p>
            <a:pPr algn="l">
              <a:lnSpc>
                <a:spcPts val="3359"/>
              </a:lnSpc>
            </a:pPr>
            <a:r>
              <a:rPr lang="en-US" sz="2799">
                <a:solidFill>
                  <a:srgbClr val="3E3F54"/>
                </a:solidFill>
                <a:latin typeface="TT Firs Neue"/>
                <a:ea typeface="TT Firs Neue"/>
                <a:cs typeface="TT Firs Neue"/>
                <a:sym typeface="TT Firs Neue"/>
              </a:rPr>
              <a:t>Course information and reviews are avail</a:t>
            </a:r>
            <a:r>
              <a:rPr lang="en-US" sz="2799">
                <a:solidFill>
                  <a:srgbClr val="3E3F54"/>
                </a:solidFill>
                <a:latin typeface="TT Firs Neue"/>
                <a:ea typeface="TT Firs Neue"/>
                <a:cs typeface="TT Firs Neue"/>
                <a:sym typeface="TT Firs Neue"/>
              </a:rPr>
              <a:t>able through a web-based interface.</a:t>
            </a:r>
          </a:p>
        </p:txBody>
      </p:sp>
      <p:sp>
        <p:nvSpPr>
          <p:cNvPr name="TextBox 24" id="24"/>
          <p:cNvSpPr txBox="true"/>
          <p:nvPr/>
        </p:nvSpPr>
        <p:spPr>
          <a:xfrm rot="0">
            <a:off x="1874387" y="6474711"/>
            <a:ext cx="3972414" cy="2095500"/>
          </a:xfrm>
          <a:prstGeom prst="rect">
            <a:avLst/>
          </a:prstGeom>
        </p:spPr>
        <p:txBody>
          <a:bodyPr anchor="t" rtlCol="false" tIns="0" lIns="0" bIns="0" rIns="0">
            <a:spAutoFit/>
          </a:bodyPr>
          <a:lstStyle/>
          <a:p>
            <a:pPr algn="l">
              <a:lnSpc>
                <a:spcPts val="3359"/>
              </a:lnSpc>
            </a:pPr>
            <a:r>
              <a:rPr lang="en-US" sz="2799">
                <a:solidFill>
                  <a:srgbClr val="3E3F54"/>
                </a:solidFill>
                <a:latin typeface="TT Firs Neue"/>
                <a:ea typeface="TT Firs Neue"/>
                <a:cs typeface="TT Firs Neue"/>
                <a:sym typeface="TT Firs Neue"/>
              </a:rPr>
              <a:t>Standardized vocab  supports consistent integration of existing data and survey data across</a:t>
            </a:r>
            <a:r>
              <a:rPr lang="en-US" sz="2799">
                <a:solidFill>
                  <a:srgbClr val="3E3F54"/>
                </a:solidFill>
                <a:latin typeface="TT Firs Neue"/>
                <a:ea typeface="TT Firs Neue"/>
                <a:cs typeface="TT Firs Neue"/>
                <a:sym typeface="TT Firs Neue"/>
              </a:rPr>
              <a:t> systems.</a:t>
            </a:r>
          </a:p>
        </p:txBody>
      </p:sp>
      <p:sp>
        <p:nvSpPr>
          <p:cNvPr name="TextBox 25" id="25"/>
          <p:cNvSpPr txBox="true"/>
          <p:nvPr/>
        </p:nvSpPr>
        <p:spPr>
          <a:xfrm rot="0">
            <a:off x="6918217" y="6474711"/>
            <a:ext cx="3972414" cy="1676400"/>
          </a:xfrm>
          <a:prstGeom prst="rect">
            <a:avLst/>
          </a:prstGeom>
        </p:spPr>
        <p:txBody>
          <a:bodyPr anchor="t" rtlCol="false" tIns="0" lIns="0" bIns="0" rIns="0">
            <a:spAutoFit/>
          </a:bodyPr>
          <a:lstStyle/>
          <a:p>
            <a:pPr algn="l">
              <a:lnSpc>
                <a:spcPts val="3359"/>
              </a:lnSpc>
            </a:pPr>
            <a:r>
              <a:rPr lang="en-US" sz="2799">
                <a:solidFill>
                  <a:srgbClr val="3E3F54"/>
                </a:solidFill>
                <a:latin typeface="TT Firs Neue"/>
                <a:ea typeface="TT Firs Neue"/>
                <a:cs typeface="TT Firs Neue"/>
                <a:sym typeface="TT Firs Neue"/>
              </a:rPr>
              <a:t>Course data can be downloaded as JSON for future reference and analysi</a:t>
            </a:r>
            <a:r>
              <a:rPr lang="en-US" sz="2799">
                <a:solidFill>
                  <a:srgbClr val="3E3F54"/>
                </a:solidFill>
                <a:latin typeface="TT Firs Neue"/>
                <a:ea typeface="TT Firs Neue"/>
                <a:cs typeface="TT Firs Neue"/>
                <a:sym typeface="TT Firs Neue"/>
              </a:rPr>
              <a:t>s.</a:t>
            </a:r>
          </a:p>
        </p:txBody>
      </p:sp>
      <p:grpSp>
        <p:nvGrpSpPr>
          <p:cNvPr name="Group 26" id="26"/>
          <p:cNvGrpSpPr/>
          <p:nvPr/>
        </p:nvGrpSpPr>
        <p:grpSpPr>
          <a:xfrm rot="0">
            <a:off x="10690742" y="5548980"/>
            <a:ext cx="5957735" cy="2442795"/>
            <a:chOff x="0" y="0"/>
            <a:chExt cx="7943647" cy="3257061"/>
          </a:xfrm>
        </p:grpSpPr>
        <p:sp>
          <p:nvSpPr>
            <p:cNvPr name="Freeform 27" id="27"/>
            <p:cNvSpPr/>
            <p:nvPr/>
          </p:nvSpPr>
          <p:spPr>
            <a:xfrm flipH="true" flipV="false" rot="-10800000">
              <a:off x="0" y="0"/>
              <a:ext cx="1656446" cy="545121"/>
            </a:xfrm>
            <a:custGeom>
              <a:avLst/>
              <a:gdLst/>
              <a:ahLst/>
              <a:cxnLst/>
              <a:rect r="r" b="b" t="t" l="l"/>
              <a:pathLst>
                <a:path h="545121" w="1656446">
                  <a:moveTo>
                    <a:pt x="1656446" y="0"/>
                  </a:moveTo>
                  <a:lnTo>
                    <a:pt x="0" y="0"/>
                  </a:lnTo>
                  <a:lnTo>
                    <a:pt x="0" y="545121"/>
                  </a:lnTo>
                  <a:lnTo>
                    <a:pt x="1656446" y="545121"/>
                  </a:lnTo>
                  <a:lnTo>
                    <a:pt x="1656446"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8" id="28"/>
            <p:cNvSpPr txBox="true"/>
            <p:nvPr/>
          </p:nvSpPr>
          <p:spPr>
            <a:xfrm rot="0">
              <a:off x="1948546" y="285261"/>
              <a:ext cx="5995101" cy="2971800"/>
            </a:xfrm>
            <a:prstGeom prst="rect">
              <a:avLst/>
            </a:prstGeom>
          </p:spPr>
          <p:txBody>
            <a:bodyPr anchor="t" rtlCol="false" tIns="0" lIns="0" bIns="0" rIns="0">
              <a:spAutoFit/>
            </a:bodyPr>
            <a:lstStyle/>
            <a:p>
              <a:pPr algn="l">
                <a:lnSpc>
                  <a:spcPts val="2999"/>
                </a:lnSpc>
              </a:pPr>
              <a:r>
                <a:rPr lang="en-US" sz="2499" i="true" b="true">
                  <a:solidFill>
                    <a:srgbClr val="3E3F54"/>
                  </a:solidFill>
                  <a:latin typeface="TT Firs Neue Bold Italics"/>
                  <a:ea typeface="TT Firs Neue Bold Italics"/>
                  <a:cs typeface="TT Firs Neue Bold Italics"/>
                  <a:sym typeface="TT Firs Neue Bold Italics"/>
                </a:rPr>
                <a:t>Current limitation:</a:t>
              </a:r>
            </a:p>
            <a:p>
              <a:pPr algn="l">
                <a:lnSpc>
                  <a:spcPts val="2999"/>
                </a:lnSpc>
                <a:spcBef>
                  <a:spcPct val="0"/>
                </a:spcBef>
              </a:pPr>
              <a:r>
                <a:rPr lang="en-US" sz="2499" i="true">
                  <a:solidFill>
                    <a:srgbClr val="3E3F54"/>
                  </a:solidFill>
                  <a:latin typeface="TT Firs Neue Italics"/>
                  <a:ea typeface="TT Firs Neue Italics"/>
                  <a:cs typeface="TT Firs Neue Italics"/>
                  <a:sym typeface="TT Firs Neue Italics"/>
                </a:rPr>
                <a:t>For now, our structure only supports data used in memory. Downloads contain the latest uploaded version and do not auto-update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30742" y="1184086"/>
            <a:ext cx="10426517" cy="885190"/>
          </a:xfrm>
          <a:prstGeom prst="rect">
            <a:avLst/>
          </a:prstGeom>
        </p:spPr>
        <p:txBody>
          <a:bodyPr anchor="t" rtlCol="false" tIns="0" lIns="0" bIns="0" rIns="0">
            <a:spAutoFit/>
          </a:bodyPr>
          <a:lstStyle/>
          <a:p>
            <a:pPr algn="ctr">
              <a:lnSpc>
                <a:spcPts val="5600"/>
              </a:lnSpc>
            </a:pPr>
            <a:r>
              <a:rPr lang="en-US" sz="5600" spc="-308">
                <a:solidFill>
                  <a:srgbClr val="3E3F54"/>
                </a:solidFill>
                <a:latin typeface="Heading Now 71-78"/>
                <a:ea typeface="Heading Now 71-78"/>
                <a:cs typeface="Heading Now 71-78"/>
                <a:sym typeface="Heading Now 71-78"/>
              </a:rPr>
              <a:t>MSIM Course Hub</a:t>
            </a:r>
          </a:p>
        </p:txBody>
      </p:sp>
      <p:sp>
        <p:nvSpPr>
          <p:cNvPr name="Freeform 3" id="3"/>
          <p:cNvSpPr/>
          <p:nvPr/>
        </p:nvSpPr>
        <p:spPr>
          <a:xfrm flipH="false" flipV="false" rot="0">
            <a:off x="1195949" y="1700711"/>
            <a:ext cx="1627905" cy="488782"/>
          </a:xfrm>
          <a:custGeom>
            <a:avLst/>
            <a:gdLst/>
            <a:ahLst/>
            <a:cxnLst/>
            <a:rect r="r" b="b" t="t" l="l"/>
            <a:pathLst>
              <a:path h="488782" w="1627905">
                <a:moveTo>
                  <a:pt x="0" y="0"/>
                </a:moveTo>
                <a:lnTo>
                  <a:pt x="1627904" y="0"/>
                </a:lnTo>
                <a:lnTo>
                  <a:pt x="1627904" y="488782"/>
                </a:lnTo>
                <a:lnTo>
                  <a:pt x="0" y="488782"/>
                </a:lnTo>
                <a:lnTo>
                  <a:pt x="0" y="0"/>
                </a:lnTo>
                <a:close/>
              </a:path>
            </a:pathLst>
          </a:custGeom>
          <a:blipFill>
            <a:blip r:embed="rId2">
              <a:extLst>
                <a:ext uri="{96DAC541-7B7A-43D3-8B79-37D633B846F1}">
                  <asvg:svgBlip xmlns:asvg="http://schemas.microsoft.com/office/drawing/2016/SVG/main" r:embed="rId3"/>
                </a:ext>
              </a:extLst>
            </a:blip>
            <a:stretch>
              <a:fillRect l="0" t="0" r="-89251" b="-454409"/>
            </a:stretch>
          </a:blipFill>
          <a:ln cap="sq">
            <a:noFill/>
            <a:prstDash val="solid"/>
            <a:miter/>
          </a:ln>
        </p:spPr>
      </p:sp>
      <p:sp>
        <p:nvSpPr>
          <p:cNvPr name="Freeform 4" id="4"/>
          <p:cNvSpPr/>
          <p:nvPr/>
        </p:nvSpPr>
        <p:spPr>
          <a:xfrm flipH="false" flipV="false" rot="0">
            <a:off x="6593900" y="5690956"/>
            <a:ext cx="1636557" cy="274805"/>
          </a:xfrm>
          <a:custGeom>
            <a:avLst/>
            <a:gdLst/>
            <a:ahLst/>
            <a:cxnLst/>
            <a:rect r="r" b="b" t="t" l="l"/>
            <a:pathLst>
              <a:path h="274805" w="1636557">
                <a:moveTo>
                  <a:pt x="0" y="0"/>
                </a:moveTo>
                <a:lnTo>
                  <a:pt x="1636557" y="0"/>
                </a:lnTo>
                <a:lnTo>
                  <a:pt x="1636557" y="274805"/>
                </a:lnTo>
                <a:lnTo>
                  <a:pt x="0" y="2748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1195949" y="2680631"/>
            <a:ext cx="15896102" cy="6577669"/>
          </a:xfrm>
          <a:custGeom>
            <a:avLst/>
            <a:gdLst/>
            <a:ahLst/>
            <a:cxnLst/>
            <a:rect r="r" b="b" t="t" l="l"/>
            <a:pathLst>
              <a:path h="6577669" w="15896102">
                <a:moveTo>
                  <a:pt x="0" y="0"/>
                </a:moveTo>
                <a:lnTo>
                  <a:pt x="15896102" y="0"/>
                </a:lnTo>
                <a:lnTo>
                  <a:pt x="15896102" y="6577669"/>
                </a:lnTo>
                <a:lnTo>
                  <a:pt x="0" y="6577669"/>
                </a:lnTo>
                <a:lnTo>
                  <a:pt x="0" y="0"/>
                </a:lnTo>
                <a:close/>
              </a:path>
            </a:pathLst>
          </a:custGeom>
          <a:blipFill>
            <a:blip r:embed="rId6"/>
            <a:stretch>
              <a:fillRect l="-4625" t="0" r="-4625" b="0"/>
            </a:stretch>
          </a:blipFill>
        </p:spPr>
      </p:sp>
      <p:sp>
        <p:nvSpPr>
          <p:cNvPr name="Freeform 6" id="6"/>
          <p:cNvSpPr/>
          <p:nvPr/>
        </p:nvSpPr>
        <p:spPr>
          <a:xfrm flipH="false" flipV="false" rot="0">
            <a:off x="15763406" y="1708278"/>
            <a:ext cx="967671" cy="962429"/>
          </a:xfrm>
          <a:custGeom>
            <a:avLst/>
            <a:gdLst/>
            <a:ahLst/>
            <a:cxnLst/>
            <a:rect r="r" b="b" t="t" l="l"/>
            <a:pathLst>
              <a:path h="962429" w="967671">
                <a:moveTo>
                  <a:pt x="0" y="0"/>
                </a:moveTo>
                <a:lnTo>
                  <a:pt x="967671" y="0"/>
                </a:lnTo>
                <a:lnTo>
                  <a:pt x="967671" y="962429"/>
                </a:lnTo>
                <a:lnTo>
                  <a:pt x="0" y="9624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95949" y="1700711"/>
            <a:ext cx="1627905" cy="488782"/>
          </a:xfrm>
          <a:custGeom>
            <a:avLst/>
            <a:gdLst/>
            <a:ahLst/>
            <a:cxnLst/>
            <a:rect r="r" b="b" t="t" l="l"/>
            <a:pathLst>
              <a:path h="488782" w="1627905">
                <a:moveTo>
                  <a:pt x="0" y="0"/>
                </a:moveTo>
                <a:lnTo>
                  <a:pt x="1627904" y="0"/>
                </a:lnTo>
                <a:lnTo>
                  <a:pt x="1627904" y="488782"/>
                </a:lnTo>
                <a:lnTo>
                  <a:pt x="0" y="488782"/>
                </a:lnTo>
                <a:lnTo>
                  <a:pt x="0" y="0"/>
                </a:lnTo>
                <a:close/>
              </a:path>
            </a:pathLst>
          </a:custGeom>
          <a:blipFill>
            <a:blip r:embed="rId2">
              <a:extLst>
                <a:ext uri="{96DAC541-7B7A-43D3-8B79-37D633B846F1}">
                  <asvg:svgBlip xmlns:asvg="http://schemas.microsoft.com/office/drawing/2016/SVG/main" r:embed="rId3"/>
                </a:ext>
              </a:extLst>
            </a:blip>
            <a:stretch>
              <a:fillRect l="0" t="0" r="-89251" b="-454409"/>
            </a:stretch>
          </a:blipFill>
          <a:ln cap="sq">
            <a:noFill/>
            <a:prstDash val="solid"/>
            <a:miter/>
          </a:ln>
        </p:spPr>
      </p:sp>
      <p:sp>
        <p:nvSpPr>
          <p:cNvPr name="Freeform 3" id="3"/>
          <p:cNvSpPr/>
          <p:nvPr/>
        </p:nvSpPr>
        <p:spPr>
          <a:xfrm flipH="false" flipV="false" rot="0">
            <a:off x="6593900" y="5690956"/>
            <a:ext cx="1636557" cy="274805"/>
          </a:xfrm>
          <a:custGeom>
            <a:avLst/>
            <a:gdLst/>
            <a:ahLst/>
            <a:cxnLst/>
            <a:rect r="r" b="b" t="t" l="l"/>
            <a:pathLst>
              <a:path h="274805" w="1636557">
                <a:moveTo>
                  <a:pt x="0" y="0"/>
                </a:moveTo>
                <a:lnTo>
                  <a:pt x="1636557" y="0"/>
                </a:lnTo>
                <a:lnTo>
                  <a:pt x="1636557" y="274805"/>
                </a:lnTo>
                <a:lnTo>
                  <a:pt x="0" y="2748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5763406" y="1708278"/>
            <a:ext cx="967671" cy="962429"/>
          </a:xfrm>
          <a:custGeom>
            <a:avLst/>
            <a:gdLst/>
            <a:ahLst/>
            <a:cxnLst/>
            <a:rect r="r" b="b" t="t" l="l"/>
            <a:pathLst>
              <a:path h="962429" w="967671">
                <a:moveTo>
                  <a:pt x="0" y="0"/>
                </a:moveTo>
                <a:lnTo>
                  <a:pt x="967671" y="0"/>
                </a:lnTo>
                <a:lnTo>
                  <a:pt x="967671" y="962429"/>
                </a:lnTo>
                <a:lnTo>
                  <a:pt x="0" y="962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144000" y="3984464"/>
            <a:ext cx="8476137" cy="3962594"/>
          </a:xfrm>
          <a:custGeom>
            <a:avLst/>
            <a:gdLst/>
            <a:ahLst/>
            <a:cxnLst/>
            <a:rect r="r" b="b" t="t" l="l"/>
            <a:pathLst>
              <a:path h="3962594" w="8476137">
                <a:moveTo>
                  <a:pt x="0" y="0"/>
                </a:moveTo>
                <a:lnTo>
                  <a:pt x="8476137" y="0"/>
                </a:lnTo>
                <a:lnTo>
                  <a:pt x="8476137" y="3962594"/>
                </a:lnTo>
                <a:lnTo>
                  <a:pt x="0" y="3962594"/>
                </a:lnTo>
                <a:lnTo>
                  <a:pt x="0" y="0"/>
                </a:lnTo>
                <a:close/>
              </a:path>
            </a:pathLst>
          </a:custGeom>
          <a:blipFill>
            <a:blip r:embed="rId8"/>
            <a:stretch>
              <a:fillRect l="0" t="0" r="0" b="0"/>
            </a:stretch>
          </a:blipFill>
        </p:spPr>
      </p:sp>
      <p:sp>
        <p:nvSpPr>
          <p:cNvPr name="Freeform 6" id="6"/>
          <p:cNvSpPr/>
          <p:nvPr/>
        </p:nvSpPr>
        <p:spPr>
          <a:xfrm flipH="false" flipV="false" rot="0">
            <a:off x="462491" y="3984464"/>
            <a:ext cx="8342304" cy="3962594"/>
          </a:xfrm>
          <a:custGeom>
            <a:avLst/>
            <a:gdLst/>
            <a:ahLst/>
            <a:cxnLst/>
            <a:rect r="r" b="b" t="t" l="l"/>
            <a:pathLst>
              <a:path h="3962594" w="8342304">
                <a:moveTo>
                  <a:pt x="0" y="0"/>
                </a:moveTo>
                <a:lnTo>
                  <a:pt x="8342304" y="0"/>
                </a:lnTo>
                <a:lnTo>
                  <a:pt x="8342304" y="3962594"/>
                </a:lnTo>
                <a:lnTo>
                  <a:pt x="0" y="3962594"/>
                </a:lnTo>
                <a:lnTo>
                  <a:pt x="0" y="0"/>
                </a:lnTo>
                <a:close/>
              </a:path>
            </a:pathLst>
          </a:custGeom>
          <a:blipFill>
            <a:blip r:embed="rId9"/>
            <a:stretch>
              <a:fillRect l="0" t="0" r="0" b="0"/>
            </a:stretch>
          </a:blipFill>
        </p:spPr>
      </p:sp>
      <p:sp>
        <p:nvSpPr>
          <p:cNvPr name="TextBox 7" id="7"/>
          <p:cNvSpPr txBox="true"/>
          <p:nvPr/>
        </p:nvSpPr>
        <p:spPr>
          <a:xfrm rot="0">
            <a:off x="3930742" y="1184086"/>
            <a:ext cx="10426517" cy="885190"/>
          </a:xfrm>
          <a:prstGeom prst="rect">
            <a:avLst/>
          </a:prstGeom>
        </p:spPr>
        <p:txBody>
          <a:bodyPr anchor="t" rtlCol="false" tIns="0" lIns="0" bIns="0" rIns="0">
            <a:spAutoFit/>
          </a:bodyPr>
          <a:lstStyle/>
          <a:p>
            <a:pPr algn="ctr">
              <a:lnSpc>
                <a:spcPts val="5600"/>
              </a:lnSpc>
            </a:pPr>
            <a:r>
              <a:rPr lang="en-US" sz="5600" spc="-308">
                <a:solidFill>
                  <a:srgbClr val="3E3F54"/>
                </a:solidFill>
                <a:latin typeface="Heading Now 71-78"/>
                <a:ea typeface="Heading Now 71-78"/>
                <a:cs typeface="Heading Now 71-78"/>
                <a:sym typeface="Heading Now 71-78"/>
              </a:rPr>
              <a:t>MSIM Course Hub</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64975" y="375550"/>
            <a:ext cx="2231895" cy="2231895"/>
          </a:xfrm>
          <a:custGeom>
            <a:avLst/>
            <a:gdLst/>
            <a:ahLst/>
            <a:cxnLst/>
            <a:rect r="r" b="b" t="t" l="l"/>
            <a:pathLst>
              <a:path h="2231895" w="2231895">
                <a:moveTo>
                  <a:pt x="0" y="0"/>
                </a:moveTo>
                <a:lnTo>
                  <a:pt x="2231895" y="0"/>
                </a:lnTo>
                <a:lnTo>
                  <a:pt x="2231895" y="2231895"/>
                </a:lnTo>
                <a:lnTo>
                  <a:pt x="0" y="22318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736357" y="2703859"/>
            <a:ext cx="12815285" cy="1265957"/>
            <a:chOff x="0" y="0"/>
            <a:chExt cx="2943385" cy="290762"/>
          </a:xfrm>
        </p:grpSpPr>
        <p:sp>
          <p:nvSpPr>
            <p:cNvPr name="Freeform 4" id="4"/>
            <p:cNvSpPr/>
            <p:nvPr/>
          </p:nvSpPr>
          <p:spPr>
            <a:xfrm flipH="false" flipV="false" rot="0">
              <a:off x="0" y="0"/>
              <a:ext cx="2943385" cy="290762"/>
            </a:xfrm>
            <a:custGeom>
              <a:avLst/>
              <a:gdLst/>
              <a:ahLst/>
              <a:cxnLst/>
              <a:rect r="r" b="b" t="t" l="l"/>
              <a:pathLst>
                <a:path h="290762" w="2943385">
                  <a:moveTo>
                    <a:pt x="30810" y="0"/>
                  </a:moveTo>
                  <a:lnTo>
                    <a:pt x="2912575" y="0"/>
                  </a:lnTo>
                  <a:cubicBezTo>
                    <a:pt x="2929591" y="0"/>
                    <a:pt x="2943385" y="13794"/>
                    <a:pt x="2943385" y="30810"/>
                  </a:cubicBezTo>
                  <a:lnTo>
                    <a:pt x="2943385" y="259952"/>
                  </a:lnTo>
                  <a:cubicBezTo>
                    <a:pt x="2943385" y="268124"/>
                    <a:pt x="2940139" y="275960"/>
                    <a:pt x="2934361" y="281738"/>
                  </a:cubicBezTo>
                  <a:cubicBezTo>
                    <a:pt x="2928583" y="287516"/>
                    <a:pt x="2920746" y="290762"/>
                    <a:pt x="2912575" y="290762"/>
                  </a:cubicBezTo>
                  <a:lnTo>
                    <a:pt x="30810" y="290762"/>
                  </a:lnTo>
                  <a:cubicBezTo>
                    <a:pt x="22639" y="290762"/>
                    <a:pt x="14802" y="287516"/>
                    <a:pt x="9024" y="281738"/>
                  </a:cubicBezTo>
                  <a:cubicBezTo>
                    <a:pt x="3246" y="275960"/>
                    <a:pt x="0" y="268124"/>
                    <a:pt x="0" y="259952"/>
                  </a:cubicBezTo>
                  <a:lnTo>
                    <a:pt x="0" y="30810"/>
                  </a:lnTo>
                  <a:cubicBezTo>
                    <a:pt x="0" y="22639"/>
                    <a:pt x="3246" y="14802"/>
                    <a:pt x="9024" y="9024"/>
                  </a:cubicBezTo>
                  <a:cubicBezTo>
                    <a:pt x="14802" y="3246"/>
                    <a:pt x="22639" y="0"/>
                    <a:pt x="30810" y="0"/>
                  </a:cubicBezTo>
                  <a:close/>
                </a:path>
              </a:pathLst>
            </a:custGeom>
            <a:solidFill>
              <a:srgbClr val="FBC76F"/>
            </a:solidFill>
          </p:spPr>
        </p:sp>
        <p:sp>
          <p:nvSpPr>
            <p:cNvPr name="TextBox 5" id="5"/>
            <p:cNvSpPr txBox="true"/>
            <p:nvPr/>
          </p:nvSpPr>
          <p:spPr>
            <a:xfrm>
              <a:off x="0" y="-47625"/>
              <a:ext cx="2943385" cy="338387"/>
            </a:xfrm>
            <a:prstGeom prst="rect">
              <a:avLst/>
            </a:prstGeom>
          </p:spPr>
          <p:txBody>
            <a:bodyPr anchor="ctr" rtlCol="false" tIns="50800" lIns="50800" bIns="50800" rIns="50800"/>
            <a:lstStyle/>
            <a:p>
              <a:pPr algn="ctr">
                <a:lnSpc>
                  <a:spcPts val="3360"/>
                </a:lnSpc>
              </a:pPr>
            </a:p>
          </p:txBody>
        </p:sp>
      </p:grpSp>
      <p:sp>
        <p:nvSpPr>
          <p:cNvPr name="Freeform 6" id="6"/>
          <p:cNvSpPr/>
          <p:nvPr/>
        </p:nvSpPr>
        <p:spPr>
          <a:xfrm flipH="false" flipV="false" rot="0">
            <a:off x="15278587" y="603708"/>
            <a:ext cx="1340173" cy="464809"/>
          </a:xfrm>
          <a:custGeom>
            <a:avLst/>
            <a:gdLst/>
            <a:ahLst/>
            <a:cxnLst/>
            <a:rect r="r" b="b" t="t" l="l"/>
            <a:pathLst>
              <a:path h="464809" w="1340173">
                <a:moveTo>
                  <a:pt x="0" y="0"/>
                </a:moveTo>
                <a:lnTo>
                  <a:pt x="1340173" y="0"/>
                </a:lnTo>
                <a:lnTo>
                  <a:pt x="1340173" y="464809"/>
                </a:lnTo>
                <a:lnTo>
                  <a:pt x="0" y="464809"/>
                </a:lnTo>
                <a:lnTo>
                  <a:pt x="0" y="0"/>
                </a:lnTo>
                <a:close/>
              </a:path>
            </a:pathLst>
          </a:custGeom>
          <a:blipFill>
            <a:blip r:embed="rId5">
              <a:extLst>
                <a:ext uri="{96DAC541-7B7A-43D3-8B79-37D633B846F1}">
                  <asvg:svgBlip xmlns:asvg="http://schemas.microsoft.com/office/drawing/2016/SVG/main" r:embed="rId6"/>
                </a:ext>
              </a:extLst>
            </a:blip>
            <a:stretch>
              <a:fillRect l="0" t="-271288" r="-56404" b="0"/>
            </a:stretch>
          </a:blipFill>
          <a:ln cap="sq">
            <a:noFill/>
            <a:prstDash val="solid"/>
            <a:miter/>
          </a:ln>
        </p:spPr>
      </p:sp>
      <p:sp>
        <p:nvSpPr>
          <p:cNvPr name="Freeform 7" id="7"/>
          <p:cNvSpPr/>
          <p:nvPr/>
        </p:nvSpPr>
        <p:spPr>
          <a:xfrm flipH="false" flipV="false" rot="0">
            <a:off x="16669658" y="3228875"/>
            <a:ext cx="1735990" cy="622786"/>
          </a:xfrm>
          <a:custGeom>
            <a:avLst/>
            <a:gdLst/>
            <a:ahLst/>
            <a:cxnLst/>
            <a:rect r="r" b="b" t="t" l="l"/>
            <a:pathLst>
              <a:path h="622786" w="1735990">
                <a:moveTo>
                  <a:pt x="0" y="0"/>
                </a:moveTo>
                <a:lnTo>
                  <a:pt x="1735989" y="0"/>
                </a:lnTo>
                <a:lnTo>
                  <a:pt x="1735989" y="622786"/>
                </a:lnTo>
                <a:lnTo>
                  <a:pt x="0" y="6227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0">
            <a:off x="1028700" y="2472461"/>
            <a:ext cx="938103" cy="462798"/>
          </a:xfrm>
          <a:custGeom>
            <a:avLst/>
            <a:gdLst/>
            <a:ahLst/>
            <a:cxnLst/>
            <a:rect r="r" b="b" t="t" l="l"/>
            <a:pathLst>
              <a:path h="462798" w="938103">
                <a:moveTo>
                  <a:pt x="0" y="0"/>
                </a:moveTo>
                <a:lnTo>
                  <a:pt x="938103" y="0"/>
                </a:lnTo>
                <a:lnTo>
                  <a:pt x="938103" y="462797"/>
                </a:lnTo>
                <a:lnTo>
                  <a:pt x="0" y="4627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9" id="9"/>
          <p:cNvSpPr txBox="true"/>
          <p:nvPr/>
        </p:nvSpPr>
        <p:spPr>
          <a:xfrm rot="0">
            <a:off x="820648" y="549046"/>
            <a:ext cx="6134371" cy="885190"/>
          </a:xfrm>
          <a:prstGeom prst="rect">
            <a:avLst/>
          </a:prstGeom>
        </p:spPr>
        <p:txBody>
          <a:bodyPr anchor="t" rtlCol="false" tIns="0" lIns="0" bIns="0" rIns="0">
            <a:spAutoFit/>
          </a:bodyPr>
          <a:lstStyle/>
          <a:p>
            <a:pPr algn="l">
              <a:lnSpc>
                <a:spcPts val="5600"/>
              </a:lnSpc>
            </a:pPr>
            <a:r>
              <a:rPr lang="en-US" sz="5600" spc="-308">
                <a:solidFill>
                  <a:srgbClr val="3E3F54"/>
                </a:solidFill>
                <a:latin typeface="Heading Now 71-78"/>
                <a:ea typeface="Heading Now 71-78"/>
                <a:cs typeface="Heading Now 71-78"/>
                <a:sym typeface="Heading Now 71-78"/>
              </a:rPr>
              <a:t>New Structure</a:t>
            </a:r>
          </a:p>
        </p:txBody>
      </p:sp>
      <p:sp>
        <p:nvSpPr>
          <p:cNvPr name="TextBox 10" id="10"/>
          <p:cNvSpPr txBox="true"/>
          <p:nvPr/>
        </p:nvSpPr>
        <p:spPr>
          <a:xfrm rot="0">
            <a:off x="6860346" y="3095147"/>
            <a:ext cx="5128244" cy="495300"/>
          </a:xfrm>
          <a:prstGeom prst="rect">
            <a:avLst/>
          </a:prstGeom>
        </p:spPr>
        <p:txBody>
          <a:bodyPr anchor="t" rtlCol="false" tIns="0" lIns="0" bIns="0" rIns="0">
            <a:spAutoFit/>
          </a:bodyPr>
          <a:lstStyle/>
          <a:p>
            <a:pPr algn="just">
              <a:lnSpc>
                <a:spcPts val="3990"/>
              </a:lnSpc>
            </a:pPr>
            <a:r>
              <a:rPr lang="en-US" b="true" sz="3325">
                <a:solidFill>
                  <a:srgbClr val="3E3F54"/>
                </a:solidFill>
                <a:latin typeface="TT Firs Neue Bold"/>
                <a:ea typeface="TT Firs Neue Bold"/>
                <a:cs typeface="TT Firs Neue Bold"/>
                <a:sym typeface="TT Firs Neue Bold"/>
              </a:rPr>
              <a:t>Frontend: </a:t>
            </a:r>
            <a:r>
              <a:rPr lang="en-US" b="true" sz="3325">
                <a:solidFill>
                  <a:srgbClr val="3E3F54"/>
                </a:solidFill>
                <a:latin typeface="TT Firs Neue Bold"/>
                <a:ea typeface="TT Firs Neue Bold"/>
                <a:cs typeface="TT Firs Neue Bold"/>
                <a:sym typeface="TT Firs Neue Bold"/>
              </a:rPr>
              <a:t>Reac</a:t>
            </a:r>
            <a:r>
              <a:rPr lang="en-US" b="true" sz="3325">
                <a:solidFill>
                  <a:srgbClr val="3E3F54"/>
                </a:solidFill>
                <a:latin typeface="TT Firs Neue Bold"/>
                <a:ea typeface="TT Firs Neue Bold"/>
                <a:cs typeface="TT Firs Neue Bold"/>
                <a:sym typeface="TT Firs Neue Bold"/>
              </a:rPr>
              <a:t>t + Vite</a:t>
            </a:r>
          </a:p>
        </p:txBody>
      </p:sp>
      <p:grpSp>
        <p:nvGrpSpPr>
          <p:cNvPr name="Group 11" id="11"/>
          <p:cNvGrpSpPr/>
          <p:nvPr/>
        </p:nvGrpSpPr>
        <p:grpSpPr>
          <a:xfrm rot="0">
            <a:off x="2736357" y="4325893"/>
            <a:ext cx="12815285" cy="1849779"/>
            <a:chOff x="0" y="0"/>
            <a:chExt cx="2943385" cy="424853"/>
          </a:xfrm>
        </p:grpSpPr>
        <p:sp>
          <p:nvSpPr>
            <p:cNvPr name="Freeform 12" id="12"/>
            <p:cNvSpPr/>
            <p:nvPr/>
          </p:nvSpPr>
          <p:spPr>
            <a:xfrm flipH="false" flipV="false" rot="0">
              <a:off x="0" y="0"/>
              <a:ext cx="2943385" cy="424853"/>
            </a:xfrm>
            <a:custGeom>
              <a:avLst/>
              <a:gdLst/>
              <a:ahLst/>
              <a:cxnLst/>
              <a:rect r="r" b="b" t="t" l="l"/>
              <a:pathLst>
                <a:path h="424853" w="2943385">
                  <a:moveTo>
                    <a:pt x="30810" y="0"/>
                  </a:moveTo>
                  <a:lnTo>
                    <a:pt x="2912575" y="0"/>
                  </a:lnTo>
                  <a:cubicBezTo>
                    <a:pt x="2929591" y="0"/>
                    <a:pt x="2943385" y="13794"/>
                    <a:pt x="2943385" y="30810"/>
                  </a:cubicBezTo>
                  <a:lnTo>
                    <a:pt x="2943385" y="394043"/>
                  </a:lnTo>
                  <a:cubicBezTo>
                    <a:pt x="2943385" y="402214"/>
                    <a:pt x="2940139" y="410051"/>
                    <a:pt x="2934361" y="415829"/>
                  </a:cubicBezTo>
                  <a:cubicBezTo>
                    <a:pt x="2928583" y="421607"/>
                    <a:pt x="2920746" y="424853"/>
                    <a:pt x="2912575" y="424853"/>
                  </a:cubicBezTo>
                  <a:lnTo>
                    <a:pt x="30810" y="424853"/>
                  </a:lnTo>
                  <a:cubicBezTo>
                    <a:pt x="22639" y="424853"/>
                    <a:pt x="14802" y="421607"/>
                    <a:pt x="9024" y="415829"/>
                  </a:cubicBezTo>
                  <a:cubicBezTo>
                    <a:pt x="3246" y="410051"/>
                    <a:pt x="0" y="402214"/>
                    <a:pt x="0" y="394043"/>
                  </a:cubicBezTo>
                  <a:lnTo>
                    <a:pt x="0" y="30810"/>
                  </a:lnTo>
                  <a:cubicBezTo>
                    <a:pt x="0" y="22639"/>
                    <a:pt x="3246" y="14802"/>
                    <a:pt x="9024" y="9024"/>
                  </a:cubicBezTo>
                  <a:cubicBezTo>
                    <a:pt x="14802" y="3246"/>
                    <a:pt x="22639" y="0"/>
                    <a:pt x="30810" y="0"/>
                  </a:cubicBezTo>
                  <a:close/>
                </a:path>
              </a:pathLst>
            </a:custGeom>
            <a:solidFill>
              <a:srgbClr val="FBC76F"/>
            </a:solidFill>
          </p:spPr>
        </p:sp>
        <p:sp>
          <p:nvSpPr>
            <p:cNvPr name="TextBox 13" id="13"/>
            <p:cNvSpPr txBox="true"/>
            <p:nvPr/>
          </p:nvSpPr>
          <p:spPr>
            <a:xfrm>
              <a:off x="0" y="-47625"/>
              <a:ext cx="2943385" cy="472478"/>
            </a:xfrm>
            <a:prstGeom prst="rect">
              <a:avLst/>
            </a:prstGeom>
          </p:spPr>
          <p:txBody>
            <a:bodyPr anchor="ctr" rtlCol="false" tIns="50800" lIns="50800" bIns="50800" rIns="50800"/>
            <a:lstStyle/>
            <a:p>
              <a:pPr algn="ctr">
                <a:lnSpc>
                  <a:spcPts val="3360"/>
                </a:lnSpc>
              </a:pPr>
            </a:p>
          </p:txBody>
        </p:sp>
      </p:grpSp>
      <p:sp>
        <p:nvSpPr>
          <p:cNvPr name="Freeform 14" id="14"/>
          <p:cNvSpPr/>
          <p:nvPr/>
        </p:nvSpPr>
        <p:spPr>
          <a:xfrm flipH="false" flipV="false" rot="5400000">
            <a:off x="8853930" y="3851661"/>
            <a:ext cx="665210" cy="665210"/>
          </a:xfrm>
          <a:custGeom>
            <a:avLst/>
            <a:gdLst/>
            <a:ahLst/>
            <a:cxnLst/>
            <a:rect r="r" b="b" t="t" l="l"/>
            <a:pathLst>
              <a:path h="665210" w="665210">
                <a:moveTo>
                  <a:pt x="0" y="0"/>
                </a:moveTo>
                <a:lnTo>
                  <a:pt x="665210" y="0"/>
                </a:lnTo>
                <a:lnTo>
                  <a:pt x="665210" y="665210"/>
                </a:lnTo>
                <a:lnTo>
                  <a:pt x="0" y="6652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5" id="15"/>
          <p:cNvSpPr txBox="true"/>
          <p:nvPr/>
        </p:nvSpPr>
        <p:spPr>
          <a:xfrm rot="0">
            <a:off x="6955019" y="4717180"/>
            <a:ext cx="5128244" cy="495300"/>
          </a:xfrm>
          <a:prstGeom prst="rect">
            <a:avLst/>
          </a:prstGeom>
        </p:spPr>
        <p:txBody>
          <a:bodyPr anchor="t" rtlCol="false" tIns="0" lIns="0" bIns="0" rIns="0">
            <a:spAutoFit/>
          </a:bodyPr>
          <a:lstStyle/>
          <a:p>
            <a:pPr algn="just">
              <a:lnSpc>
                <a:spcPts val="3990"/>
              </a:lnSpc>
            </a:pPr>
            <a:r>
              <a:rPr lang="en-US" b="true" sz="3325">
                <a:solidFill>
                  <a:srgbClr val="3E3F54"/>
                </a:solidFill>
                <a:latin typeface="TT Firs Neue Bold"/>
                <a:ea typeface="TT Firs Neue Bold"/>
                <a:cs typeface="TT Firs Neue Bold"/>
                <a:sym typeface="TT Firs Neue Bold"/>
              </a:rPr>
              <a:t>Backe</a:t>
            </a:r>
            <a:r>
              <a:rPr lang="en-US" b="true" sz="3325">
                <a:solidFill>
                  <a:srgbClr val="3E3F54"/>
                </a:solidFill>
                <a:latin typeface="TT Firs Neue Bold"/>
                <a:ea typeface="TT Firs Neue Bold"/>
                <a:cs typeface="TT Firs Neue Bold"/>
                <a:sym typeface="TT Firs Neue Bold"/>
              </a:rPr>
              <a:t>nd: </a:t>
            </a:r>
            <a:r>
              <a:rPr lang="en-US" b="true" sz="3325">
                <a:solidFill>
                  <a:srgbClr val="3E3F54"/>
                </a:solidFill>
                <a:latin typeface="TT Firs Neue Bold"/>
                <a:ea typeface="TT Firs Neue Bold"/>
                <a:cs typeface="TT Firs Neue Bold"/>
                <a:sym typeface="TT Firs Neue Bold"/>
              </a:rPr>
              <a:t>Flask API</a:t>
            </a:r>
          </a:p>
        </p:txBody>
      </p:sp>
      <p:sp>
        <p:nvSpPr>
          <p:cNvPr name="TextBox 16" id="16"/>
          <p:cNvSpPr txBox="true"/>
          <p:nvPr/>
        </p:nvSpPr>
        <p:spPr>
          <a:xfrm rot="0">
            <a:off x="6621506" y="5410113"/>
            <a:ext cx="7532402" cy="492908"/>
          </a:xfrm>
          <a:prstGeom prst="rect">
            <a:avLst/>
          </a:prstGeom>
        </p:spPr>
        <p:txBody>
          <a:bodyPr anchor="t" rtlCol="false" tIns="0" lIns="0" bIns="0" rIns="0">
            <a:spAutoFit/>
          </a:bodyPr>
          <a:lstStyle/>
          <a:p>
            <a:pPr algn="just">
              <a:lnSpc>
                <a:spcPts val="3990"/>
              </a:lnSpc>
            </a:pPr>
            <a:r>
              <a:rPr lang="en-US" sz="3325">
                <a:solidFill>
                  <a:srgbClr val="3E3F54"/>
                </a:solidFill>
                <a:latin typeface="TT Firs Neue"/>
                <a:ea typeface="TT Firs Neue"/>
                <a:cs typeface="TT Firs Neue"/>
                <a:sym typeface="TT Firs Neue"/>
              </a:rPr>
              <a:t>In-memory data retrieval </a:t>
            </a:r>
          </a:p>
        </p:txBody>
      </p:sp>
      <p:grpSp>
        <p:nvGrpSpPr>
          <p:cNvPr name="Group 17" id="17"/>
          <p:cNvGrpSpPr/>
          <p:nvPr/>
        </p:nvGrpSpPr>
        <p:grpSpPr>
          <a:xfrm rot="0">
            <a:off x="2736357" y="6509047"/>
            <a:ext cx="12815285" cy="2202738"/>
            <a:chOff x="0" y="0"/>
            <a:chExt cx="2943385" cy="505920"/>
          </a:xfrm>
        </p:grpSpPr>
        <p:sp>
          <p:nvSpPr>
            <p:cNvPr name="Freeform 18" id="18"/>
            <p:cNvSpPr/>
            <p:nvPr/>
          </p:nvSpPr>
          <p:spPr>
            <a:xfrm flipH="false" flipV="false" rot="0">
              <a:off x="0" y="0"/>
              <a:ext cx="2943385" cy="505920"/>
            </a:xfrm>
            <a:custGeom>
              <a:avLst/>
              <a:gdLst/>
              <a:ahLst/>
              <a:cxnLst/>
              <a:rect r="r" b="b" t="t" l="l"/>
              <a:pathLst>
                <a:path h="505920" w="2943385">
                  <a:moveTo>
                    <a:pt x="30810" y="0"/>
                  </a:moveTo>
                  <a:lnTo>
                    <a:pt x="2912575" y="0"/>
                  </a:lnTo>
                  <a:cubicBezTo>
                    <a:pt x="2929591" y="0"/>
                    <a:pt x="2943385" y="13794"/>
                    <a:pt x="2943385" y="30810"/>
                  </a:cubicBezTo>
                  <a:lnTo>
                    <a:pt x="2943385" y="475110"/>
                  </a:lnTo>
                  <a:cubicBezTo>
                    <a:pt x="2943385" y="483281"/>
                    <a:pt x="2940139" y="491118"/>
                    <a:pt x="2934361" y="496896"/>
                  </a:cubicBezTo>
                  <a:cubicBezTo>
                    <a:pt x="2928583" y="502674"/>
                    <a:pt x="2920746" y="505920"/>
                    <a:pt x="2912575" y="505920"/>
                  </a:cubicBezTo>
                  <a:lnTo>
                    <a:pt x="30810" y="505920"/>
                  </a:lnTo>
                  <a:cubicBezTo>
                    <a:pt x="22639" y="505920"/>
                    <a:pt x="14802" y="502674"/>
                    <a:pt x="9024" y="496896"/>
                  </a:cubicBezTo>
                  <a:cubicBezTo>
                    <a:pt x="3246" y="491118"/>
                    <a:pt x="0" y="483281"/>
                    <a:pt x="0" y="475110"/>
                  </a:cubicBezTo>
                  <a:lnTo>
                    <a:pt x="0" y="30810"/>
                  </a:lnTo>
                  <a:cubicBezTo>
                    <a:pt x="0" y="22639"/>
                    <a:pt x="3246" y="14802"/>
                    <a:pt x="9024" y="9024"/>
                  </a:cubicBezTo>
                  <a:cubicBezTo>
                    <a:pt x="14802" y="3246"/>
                    <a:pt x="22639" y="0"/>
                    <a:pt x="30810" y="0"/>
                  </a:cubicBezTo>
                  <a:close/>
                </a:path>
              </a:pathLst>
            </a:custGeom>
            <a:solidFill>
              <a:srgbClr val="FBC76F"/>
            </a:solidFill>
          </p:spPr>
        </p:sp>
        <p:sp>
          <p:nvSpPr>
            <p:cNvPr name="TextBox 19" id="19"/>
            <p:cNvSpPr txBox="true"/>
            <p:nvPr/>
          </p:nvSpPr>
          <p:spPr>
            <a:xfrm>
              <a:off x="0" y="-47625"/>
              <a:ext cx="2943385" cy="553545"/>
            </a:xfrm>
            <a:prstGeom prst="rect">
              <a:avLst/>
            </a:prstGeom>
          </p:spPr>
          <p:txBody>
            <a:bodyPr anchor="ctr" rtlCol="false" tIns="50800" lIns="50800" bIns="50800" rIns="50800"/>
            <a:lstStyle/>
            <a:p>
              <a:pPr algn="ctr">
                <a:lnSpc>
                  <a:spcPts val="3360"/>
                </a:lnSpc>
              </a:pPr>
            </a:p>
          </p:txBody>
        </p:sp>
      </p:grpSp>
      <p:sp>
        <p:nvSpPr>
          <p:cNvPr name="Freeform 20" id="20"/>
          <p:cNvSpPr/>
          <p:nvPr/>
        </p:nvSpPr>
        <p:spPr>
          <a:xfrm flipH="false" flipV="false" rot="5400000">
            <a:off x="8853930" y="5943513"/>
            <a:ext cx="665210" cy="665210"/>
          </a:xfrm>
          <a:custGeom>
            <a:avLst/>
            <a:gdLst/>
            <a:ahLst/>
            <a:cxnLst/>
            <a:rect r="r" b="b" t="t" l="l"/>
            <a:pathLst>
              <a:path h="665210" w="665210">
                <a:moveTo>
                  <a:pt x="0" y="0"/>
                </a:moveTo>
                <a:lnTo>
                  <a:pt x="665210" y="0"/>
                </a:lnTo>
                <a:lnTo>
                  <a:pt x="665210" y="665210"/>
                </a:lnTo>
                <a:lnTo>
                  <a:pt x="0" y="6652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5396632" y="6960312"/>
            <a:ext cx="7494736" cy="1751473"/>
          </a:xfrm>
          <a:prstGeom prst="rect">
            <a:avLst/>
          </a:prstGeom>
        </p:spPr>
        <p:txBody>
          <a:bodyPr anchor="t" rtlCol="false" tIns="0" lIns="0" bIns="0" rIns="0">
            <a:spAutoFit/>
          </a:bodyPr>
          <a:lstStyle/>
          <a:p>
            <a:pPr algn="ctr">
              <a:lnSpc>
                <a:spcPts val="5087"/>
              </a:lnSpc>
            </a:pPr>
            <a:r>
              <a:rPr lang="en-US" sz="3325" b="true">
                <a:solidFill>
                  <a:srgbClr val="3E3F54"/>
                </a:solidFill>
                <a:latin typeface="TT Firs Neue Bold"/>
                <a:ea typeface="TT Firs Neue Bold"/>
                <a:cs typeface="TT Firs Neue Bold"/>
                <a:sym typeface="TT Firs Neue Bold"/>
              </a:rPr>
              <a:t>Course Catalog Metadata</a:t>
            </a:r>
          </a:p>
          <a:p>
            <a:pPr algn="ctr">
              <a:lnSpc>
                <a:spcPts val="5087"/>
              </a:lnSpc>
            </a:pPr>
            <a:r>
              <a:rPr lang="en-US" sz="3325" b="true">
                <a:solidFill>
                  <a:srgbClr val="3E3F54"/>
                </a:solidFill>
                <a:latin typeface="TT Firs Neue Bold"/>
                <a:ea typeface="TT Firs Neue Bold"/>
                <a:cs typeface="TT Firs Neue Bold"/>
                <a:sym typeface="TT Firs Neue Bold"/>
              </a:rPr>
              <a:t>Student Review Submissions Data</a:t>
            </a:r>
          </a:p>
          <a:p>
            <a:pPr algn="ctr">
              <a:lnSpc>
                <a:spcPts val="403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16013" y="3384571"/>
            <a:ext cx="10417450" cy="6578258"/>
            <a:chOff x="0" y="0"/>
            <a:chExt cx="2392656" cy="1510879"/>
          </a:xfrm>
        </p:grpSpPr>
        <p:sp>
          <p:nvSpPr>
            <p:cNvPr name="Freeform 3" id="3"/>
            <p:cNvSpPr/>
            <p:nvPr/>
          </p:nvSpPr>
          <p:spPr>
            <a:xfrm flipH="false" flipV="false" rot="0">
              <a:off x="0" y="0"/>
              <a:ext cx="2392656" cy="1510879"/>
            </a:xfrm>
            <a:custGeom>
              <a:avLst/>
              <a:gdLst/>
              <a:ahLst/>
              <a:cxnLst/>
              <a:rect r="r" b="b" t="t" l="l"/>
              <a:pathLst>
                <a:path h="1510879" w="2392656">
                  <a:moveTo>
                    <a:pt x="37902" y="0"/>
                  </a:moveTo>
                  <a:lnTo>
                    <a:pt x="2354754" y="0"/>
                  </a:lnTo>
                  <a:cubicBezTo>
                    <a:pt x="2364806" y="0"/>
                    <a:pt x="2374447" y="3993"/>
                    <a:pt x="2381555" y="11101"/>
                  </a:cubicBezTo>
                  <a:cubicBezTo>
                    <a:pt x="2388663" y="18209"/>
                    <a:pt x="2392656" y="27849"/>
                    <a:pt x="2392656" y="37902"/>
                  </a:cubicBezTo>
                  <a:lnTo>
                    <a:pt x="2392656" y="1472977"/>
                  </a:lnTo>
                  <a:cubicBezTo>
                    <a:pt x="2392656" y="1493910"/>
                    <a:pt x="2375687" y="1510879"/>
                    <a:pt x="2354754" y="1510879"/>
                  </a:cubicBezTo>
                  <a:lnTo>
                    <a:pt x="37902" y="1510879"/>
                  </a:lnTo>
                  <a:cubicBezTo>
                    <a:pt x="27849" y="1510879"/>
                    <a:pt x="18209" y="1506886"/>
                    <a:pt x="11101" y="1499778"/>
                  </a:cubicBezTo>
                  <a:cubicBezTo>
                    <a:pt x="3993" y="1492670"/>
                    <a:pt x="0" y="1483030"/>
                    <a:pt x="0" y="1472977"/>
                  </a:cubicBezTo>
                  <a:lnTo>
                    <a:pt x="0" y="37902"/>
                  </a:lnTo>
                  <a:cubicBezTo>
                    <a:pt x="0" y="27849"/>
                    <a:pt x="3993" y="18209"/>
                    <a:pt x="11101" y="11101"/>
                  </a:cubicBezTo>
                  <a:cubicBezTo>
                    <a:pt x="18209" y="3993"/>
                    <a:pt x="27849" y="0"/>
                    <a:pt x="37902" y="0"/>
                  </a:cubicBezTo>
                  <a:close/>
                </a:path>
              </a:pathLst>
            </a:custGeom>
            <a:solidFill>
              <a:srgbClr val="FBC76F"/>
            </a:solidFill>
          </p:spPr>
        </p:sp>
        <p:sp>
          <p:nvSpPr>
            <p:cNvPr name="TextBox 4" id="4"/>
            <p:cNvSpPr txBox="true"/>
            <p:nvPr/>
          </p:nvSpPr>
          <p:spPr>
            <a:xfrm>
              <a:off x="0" y="-47625"/>
              <a:ext cx="2392656" cy="1558504"/>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15764975" y="375550"/>
            <a:ext cx="1896700" cy="1896700"/>
          </a:xfrm>
          <a:custGeom>
            <a:avLst/>
            <a:gdLst/>
            <a:ahLst/>
            <a:cxnLst/>
            <a:rect r="r" b="b" t="t" l="l"/>
            <a:pathLst>
              <a:path h="1896700" w="1896700">
                <a:moveTo>
                  <a:pt x="0" y="0"/>
                </a:moveTo>
                <a:lnTo>
                  <a:pt x="1896700" y="0"/>
                </a:lnTo>
                <a:lnTo>
                  <a:pt x="1896700" y="1896700"/>
                </a:lnTo>
                <a:lnTo>
                  <a:pt x="0" y="18967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278587" y="603708"/>
            <a:ext cx="1340173" cy="464809"/>
          </a:xfrm>
          <a:custGeom>
            <a:avLst/>
            <a:gdLst/>
            <a:ahLst/>
            <a:cxnLst/>
            <a:rect r="r" b="b" t="t" l="l"/>
            <a:pathLst>
              <a:path h="464809" w="1340173">
                <a:moveTo>
                  <a:pt x="0" y="0"/>
                </a:moveTo>
                <a:lnTo>
                  <a:pt x="1340173" y="0"/>
                </a:lnTo>
                <a:lnTo>
                  <a:pt x="1340173" y="464809"/>
                </a:lnTo>
                <a:lnTo>
                  <a:pt x="0" y="464809"/>
                </a:lnTo>
                <a:lnTo>
                  <a:pt x="0" y="0"/>
                </a:lnTo>
                <a:close/>
              </a:path>
            </a:pathLst>
          </a:custGeom>
          <a:blipFill>
            <a:blip r:embed="rId5">
              <a:extLst>
                <a:ext uri="{96DAC541-7B7A-43D3-8B79-37D633B846F1}">
                  <asvg:svgBlip xmlns:asvg="http://schemas.microsoft.com/office/drawing/2016/SVG/main" r:embed="rId6"/>
                </a:ext>
              </a:extLst>
            </a:blip>
            <a:stretch>
              <a:fillRect l="0" t="-271288" r="-56404" b="0"/>
            </a:stretch>
          </a:blipFill>
          <a:ln cap="sq">
            <a:noFill/>
            <a:prstDash val="solid"/>
            <a:miter/>
          </a:ln>
        </p:spPr>
      </p:sp>
      <p:sp>
        <p:nvSpPr>
          <p:cNvPr name="Freeform 7" id="7"/>
          <p:cNvSpPr/>
          <p:nvPr/>
        </p:nvSpPr>
        <p:spPr>
          <a:xfrm flipH="false" flipV="false" rot="0">
            <a:off x="334434" y="1974291"/>
            <a:ext cx="7351180" cy="5569962"/>
          </a:xfrm>
          <a:custGeom>
            <a:avLst/>
            <a:gdLst/>
            <a:ahLst/>
            <a:cxnLst/>
            <a:rect r="r" b="b" t="t" l="l"/>
            <a:pathLst>
              <a:path h="5569962" w="7351180">
                <a:moveTo>
                  <a:pt x="0" y="0"/>
                </a:moveTo>
                <a:lnTo>
                  <a:pt x="7351181" y="0"/>
                </a:lnTo>
                <a:lnTo>
                  <a:pt x="7351181" y="5569962"/>
                </a:lnTo>
                <a:lnTo>
                  <a:pt x="0" y="5569962"/>
                </a:lnTo>
                <a:lnTo>
                  <a:pt x="0" y="0"/>
                </a:lnTo>
                <a:close/>
              </a:path>
            </a:pathLst>
          </a:custGeom>
          <a:blipFill>
            <a:blip r:embed="rId7"/>
            <a:stretch>
              <a:fillRect l="0" t="0" r="-6157" b="0"/>
            </a:stretch>
          </a:blipFill>
          <a:ln w="38100" cap="sq">
            <a:solidFill>
              <a:srgbClr val="FBC76F"/>
            </a:solidFill>
            <a:prstDash val="solid"/>
            <a:miter/>
          </a:ln>
        </p:spPr>
      </p:sp>
      <p:sp>
        <p:nvSpPr>
          <p:cNvPr name="Freeform 8" id="8"/>
          <p:cNvSpPr/>
          <p:nvPr/>
        </p:nvSpPr>
        <p:spPr>
          <a:xfrm flipH="false" flipV="false" rot="0">
            <a:off x="16713325" y="2917482"/>
            <a:ext cx="1735990" cy="622786"/>
          </a:xfrm>
          <a:custGeom>
            <a:avLst/>
            <a:gdLst/>
            <a:ahLst/>
            <a:cxnLst/>
            <a:rect r="r" b="b" t="t" l="l"/>
            <a:pathLst>
              <a:path h="622786" w="1735990">
                <a:moveTo>
                  <a:pt x="0" y="0"/>
                </a:moveTo>
                <a:lnTo>
                  <a:pt x="1735990" y="0"/>
                </a:lnTo>
                <a:lnTo>
                  <a:pt x="1735990" y="622786"/>
                </a:lnTo>
                <a:lnTo>
                  <a:pt x="0" y="6227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aphicFrame>
        <p:nvGraphicFramePr>
          <p:cNvPr name="Object 9" id="9"/>
          <p:cNvGraphicFramePr/>
          <p:nvPr/>
        </p:nvGraphicFramePr>
        <p:xfrm>
          <a:off x="8039014" y="3540268"/>
          <a:ext cx="11622011" cy="7543800"/>
        </p:xfrm>
        <a:graphic>
          <a:graphicData uri="http://schemas.openxmlformats.org/presentationml/2006/ole">
            <p:oleObj imgW="13944600" imgH="98679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0" id="10"/>
          <p:cNvSpPr txBox="true"/>
          <p:nvPr/>
        </p:nvSpPr>
        <p:spPr>
          <a:xfrm rot="0">
            <a:off x="334434" y="374468"/>
            <a:ext cx="12884507" cy="885190"/>
          </a:xfrm>
          <a:prstGeom prst="rect">
            <a:avLst/>
          </a:prstGeom>
        </p:spPr>
        <p:txBody>
          <a:bodyPr anchor="t" rtlCol="false" tIns="0" lIns="0" bIns="0" rIns="0">
            <a:spAutoFit/>
          </a:bodyPr>
          <a:lstStyle/>
          <a:p>
            <a:pPr algn="l">
              <a:lnSpc>
                <a:spcPts val="5600"/>
              </a:lnSpc>
            </a:pPr>
            <a:r>
              <a:rPr lang="en-US" sz="5600" spc="-308">
                <a:solidFill>
                  <a:srgbClr val="3E3F54"/>
                </a:solidFill>
                <a:latin typeface="Heading Now 71-78"/>
                <a:ea typeface="Heading Now 71-78"/>
                <a:cs typeface="Heading Now 71-78"/>
                <a:sym typeface="Heading Now 71-78"/>
              </a:rPr>
              <a:t>Data: Course Information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64975" y="375550"/>
            <a:ext cx="1977609" cy="1977609"/>
          </a:xfrm>
          <a:custGeom>
            <a:avLst/>
            <a:gdLst/>
            <a:ahLst/>
            <a:cxnLst/>
            <a:rect r="r" b="b" t="t" l="l"/>
            <a:pathLst>
              <a:path h="1977609" w="1977609">
                <a:moveTo>
                  <a:pt x="0" y="0"/>
                </a:moveTo>
                <a:lnTo>
                  <a:pt x="1977609" y="0"/>
                </a:lnTo>
                <a:lnTo>
                  <a:pt x="1977609" y="1977609"/>
                </a:lnTo>
                <a:lnTo>
                  <a:pt x="0" y="19776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494424" y="1768347"/>
            <a:ext cx="6969064" cy="4640857"/>
            <a:chOff x="0" y="0"/>
            <a:chExt cx="1195467" cy="796088"/>
          </a:xfrm>
        </p:grpSpPr>
        <p:sp>
          <p:nvSpPr>
            <p:cNvPr name="Freeform 4" id="4"/>
            <p:cNvSpPr/>
            <p:nvPr/>
          </p:nvSpPr>
          <p:spPr>
            <a:xfrm flipH="false" flipV="false" rot="0">
              <a:off x="0" y="0"/>
              <a:ext cx="1195467" cy="796088"/>
            </a:xfrm>
            <a:custGeom>
              <a:avLst/>
              <a:gdLst/>
              <a:ahLst/>
              <a:cxnLst/>
              <a:rect r="r" b="b" t="t" l="l"/>
              <a:pathLst>
                <a:path h="796088" w="1195467">
                  <a:moveTo>
                    <a:pt x="48880" y="0"/>
                  </a:moveTo>
                  <a:lnTo>
                    <a:pt x="1146587" y="0"/>
                  </a:lnTo>
                  <a:cubicBezTo>
                    <a:pt x="1173583" y="0"/>
                    <a:pt x="1195467" y="21884"/>
                    <a:pt x="1195467" y="48880"/>
                  </a:cubicBezTo>
                  <a:lnTo>
                    <a:pt x="1195467" y="747209"/>
                  </a:lnTo>
                  <a:cubicBezTo>
                    <a:pt x="1195467" y="760172"/>
                    <a:pt x="1190317" y="772605"/>
                    <a:pt x="1181150" y="781772"/>
                  </a:cubicBezTo>
                  <a:cubicBezTo>
                    <a:pt x="1171984" y="790939"/>
                    <a:pt x="1159551" y="796088"/>
                    <a:pt x="1146587" y="796088"/>
                  </a:cubicBezTo>
                  <a:lnTo>
                    <a:pt x="48880" y="796088"/>
                  </a:lnTo>
                  <a:cubicBezTo>
                    <a:pt x="35916" y="796088"/>
                    <a:pt x="23483" y="790939"/>
                    <a:pt x="14316" y="781772"/>
                  </a:cubicBezTo>
                  <a:cubicBezTo>
                    <a:pt x="5150" y="772605"/>
                    <a:pt x="0" y="760172"/>
                    <a:pt x="0" y="747209"/>
                  </a:cubicBezTo>
                  <a:lnTo>
                    <a:pt x="0" y="48880"/>
                  </a:lnTo>
                  <a:cubicBezTo>
                    <a:pt x="0" y="21884"/>
                    <a:pt x="21884" y="0"/>
                    <a:pt x="48880" y="0"/>
                  </a:cubicBezTo>
                  <a:close/>
                </a:path>
              </a:pathLst>
            </a:custGeom>
            <a:blipFill>
              <a:blip r:embed="rId5"/>
              <a:stretch>
                <a:fillRect l="0" t="-6969" r="0" b="-6969"/>
              </a:stretch>
            </a:blipFill>
            <a:ln w="66675" cap="rnd">
              <a:solidFill>
                <a:srgbClr val="FBC76F"/>
              </a:solidFill>
              <a:prstDash val="solid"/>
              <a:round/>
            </a:ln>
          </p:spPr>
        </p:sp>
      </p:grpSp>
      <p:sp>
        <p:nvSpPr>
          <p:cNvPr name="Freeform 5" id="5"/>
          <p:cNvSpPr/>
          <p:nvPr/>
        </p:nvSpPr>
        <p:spPr>
          <a:xfrm flipH="false" flipV="false" rot="0">
            <a:off x="15278587" y="603708"/>
            <a:ext cx="1340173" cy="464809"/>
          </a:xfrm>
          <a:custGeom>
            <a:avLst/>
            <a:gdLst/>
            <a:ahLst/>
            <a:cxnLst/>
            <a:rect r="r" b="b" t="t" l="l"/>
            <a:pathLst>
              <a:path h="464809" w="1340173">
                <a:moveTo>
                  <a:pt x="0" y="0"/>
                </a:moveTo>
                <a:lnTo>
                  <a:pt x="1340173" y="0"/>
                </a:lnTo>
                <a:lnTo>
                  <a:pt x="1340173" y="464809"/>
                </a:lnTo>
                <a:lnTo>
                  <a:pt x="0" y="464809"/>
                </a:lnTo>
                <a:lnTo>
                  <a:pt x="0" y="0"/>
                </a:lnTo>
                <a:close/>
              </a:path>
            </a:pathLst>
          </a:custGeom>
          <a:blipFill>
            <a:blip r:embed="rId6">
              <a:extLst>
                <a:ext uri="{96DAC541-7B7A-43D3-8B79-37D633B846F1}">
                  <asvg:svgBlip xmlns:asvg="http://schemas.microsoft.com/office/drawing/2016/SVG/main" r:embed="rId7"/>
                </a:ext>
              </a:extLst>
            </a:blip>
            <a:stretch>
              <a:fillRect l="0" t="-271288" r="-56404" b="0"/>
            </a:stretch>
          </a:blipFill>
          <a:ln cap="sq">
            <a:noFill/>
            <a:prstDash val="solid"/>
            <a:miter/>
          </a:ln>
        </p:spPr>
      </p:sp>
      <p:grpSp>
        <p:nvGrpSpPr>
          <p:cNvPr name="Group 6" id="6"/>
          <p:cNvGrpSpPr/>
          <p:nvPr/>
        </p:nvGrpSpPr>
        <p:grpSpPr>
          <a:xfrm rot="0">
            <a:off x="7717339" y="2501386"/>
            <a:ext cx="10348099" cy="7253236"/>
            <a:chOff x="0" y="0"/>
            <a:chExt cx="2376727" cy="1665906"/>
          </a:xfrm>
        </p:grpSpPr>
        <p:sp>
          <p:nvSpPr>
            <p:cNvPr name="Freeform 7" id="7"/>
            <p:cNvSpPr/>
            <p:nvPr/>
          </p:nvSpPr>
          <p:spPr>
            <a:xfrm flipH="false" flipV="false" rot="0">
              <a:off x="0" y="0"/>
              <a:ext cx="2376727" cy="1665906"/>
            </a:xfrm>
            <a:custGeom>
              <a:avLst/>
              <a:gdLst/>
              <a:ahLst/>
              <a:cxnLst/>
              <a:rect r="r" b="b" t="t" l="l"/>
              <a:pathLst>
                <a:path h="1665906" w="2376727">
                  <a:moveTo>
                    <a:pt x="38156" y="0"/>
                  </a:moveTo>
                  <a:lnTo>
                    <a:pt x="2338572" y="0"/>
                  </a:lnTo>
                  <a:cubicBezTo>
                    <a:pt x="2359645" y="0"/>
                    <a:pt x="2376727" y="17083"/>
                    <a:pt x="2376727" y="38156"/>
                  </a:cubicBezTo>
                  <a:lnTo>
                    <a:pt x="2376727" y="1627751"/>
                  </a:lnTo>
                  <a:cubicBezTo>
                    <a:pt x="2376727" y="1648823"/>
                    <a:pt x="2359645" y="1665906"/>
                    <a:pt x="2338572" y="1665906"/>
                  </a:cubicBezTo>
                  <a:lnTo>
                    <a:pt x="38156" y="1665906"/>
                  </a:lnTo>
                  <a:cubicBezTo>
                    <a:pt x="17083" y="1665906"/>
                    <a:pt x="0" y="1648823"/>
                    <a:pt x="0" y="1627751"/>
                  </a:cubicBezTo>
                  <a:lnTo>
                    <a:pt x="0" y="38156"/>
                  </a:lnTo>
                  <a:cubicBezTo>
                    <a:pt x="0" y="17083"/>
                    <a:pt x="17083" y="0"/>
                    <a:pt x="38156" y="0"/>
                  </a:cubicBezTo>
                  <a:close/>
                </a:path>
              </a:pathLst>
            </a:custGeom>
            <a:solidFill>
              <a:srgbClr val="FBC76F"/>
            </a:solidFill>
          </p:spPr>
        </p:sp>
        <p:sp>
          <p:nvSpPr>
            <p:cNvPr name="TextBox 8" id="8"/>
            <p:cNvSpPr txBox="true"/>
            <p:nvPr/>
          </p:nvSpPr>
          <p:spPr>
            <a:xfrm>
              <a:off x="0" y="-47625"/>
              <a:ext cx="2376727" cy="1713531"/>
            </a:xfrm>
            <a:prstGeom prst="rect">
              <a:avLst/>
            </a:prstGeom>
          </p:spPr>
          <p:txBody>
            <a:bodyPr anchor="ctr" rtlCol="false" tIns="50800" lIns="50800" bIns="50800" rIns="50800"/>
            <a:lstStyle/>
            <a:p>
              <a:pPr algn="ctr">
                <a:lnSpc>
                  <a:spcPts val="3360"/>
                </a:lnSpc>
              </a:pPr>
            </a:p>
          </p:txBody>
        </p:sp>
      </p:grpSp>
      <p:sp>
        <p:nvSpPr>
          <p:cNvPr name="Freeform 9" id="9"/>
          <p:cNvSpPr/>
          <p:nvPr/>
        </p:nvSpPr>
        <p:spPr>
          <a:xfrm flipH="false" flipV="false" rot="0">
            <a:off x="16669658" y="3228875"/>
            <a:ext cx="1735990" cy="622786"/>
          </a:xfrm>
          <a:custGeom>
            <a:avLst/>
            <a:gdLst/>
            <a:ahLst/>
            <a:cxnLst/>
            <a:rect r="r" b="b" t="t" l="l"/>
            <a:pathLst>
              <a:path h="622786" w="1735990">
                <a:moveTo>
                  <a:pt x="0" y="0"/>
                </a:moveTo>
                <a:lnTo>
                  <a:pt x="1735989" y="0"/>
                </a:lnTo>
                <a:lnTo>
                  <a:pt x="1735989" y="622786"/>
                </a:lnTo>
                <a:lnTo>
                  <a:pt x="0" y="6227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aphicFrame>
        <p:nvGraphicFramePr>
          <p:cNvPr name="Object 10" id="10"/>
          <p:cNvGraphicFramePr/>
          <p:nvPr/>
        </p:nvGraphicFramePr>
        <p:xfrm>
          <a:off x="7931500" y="2710792"/>
          <a:ext cx="3771900" cy="5657850"/>
        </p:xfrm>
        <a:graphic>
          <a:graphicData uri="http://schemas.openxmlformats.org/presentationml/2006/ole">
            <p:oleObj imgW="4902200" imgH="67818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1" id="11"/>
          <p:cNvSpPr txBox="true"/>
          <p:nvPr/>
        </p:nvSpPr>
        <p:spPr>
          <a:xfrm rot="0">
            <a:off x="334434" y="374468"/>
            <a:ext cx="12884507" cy="885190"/>
          </a:xfrm>
          <a:prstGeom prst="rect">
            <a:avLst/>
          </a:prstGeom>
        </p:spPr>
        <p:txBody>
          <a:bodyPr anchor="t" rtlCol="false" tIns="0" lIns="0" bIns="0" rIns="0">
            <a:spAutoFit/>
          </a:bodyPr>
          <a:lstStyle/>
          <a:p>
            <a:pPr algn="l">
              <a:lnSpc>
                <a:spcPts val="5600"/>
              </a:lnSpc>
            </a:pPr>
            <a:r>
              <a:rPr lang="en-US" sz="5600" spc="-308">
                <a:solidFill>
                  <a:srgbClr val="3E3F54"/>
                </a:solidFill>
                <a:latin typeface="Heading Now 71-78"/>
                <a:ea typeface="Heading Now 71-78"/>
                <a:cs typeface="Heading Now 71-78"/>
                <a:sym typeface="Heading Now 71-78"/>
              </a:rPr>
              <a:t>Data: Student Reviews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339553">
            <a:off x="1800060" y="2826667"/>
            <a:ext cx="2668636" cy="3224938"/>
          </a:xfrm>
          <a:custGeom>
            <a:avLst/>
            <a:gdLst/>
            <a:ahLst/>
            <a:cxnLst/>
            <a:rect r="r" b="b" t="t" l="l"/>
            <a:pathLst>
              <a:path h="3224938" w="2668636">
                <a:moveTo>
                  <a:pt x="0" y="0"/>
                </a:moveTo>
                <a:lnTo>
                  <a:pt x="2668636" y="0"/>
                </a:lnTo>
                <a:lnTo>
                  <a:pt x="2668636" y="3224938"/>
                </a:lnTo>
                <a:lnTo>
                  <a:pt x="0" y="3224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11917" y="1877180"/>
            <a:ext cx="2869182" cy="3307414"/>
          </a:xfrm>
          <a:custGeom>
            <a:avLst/>
            <a:gdLst/>
            <a:ahLst/>
            <a:cxnLst/>
            <a:rect r="r" b="b" t="t" l="l"/>
            <a:pathLst>
              <a:path h="3307414" w="2869182">
                <a:moveTo>
                  <a:pt x="0" y="0"/>
                </a:moveTo>
                <a:lnTo>
                  <a:pt x="2869182" y="0"/>
                </a:lnTo>
                <a:lnTo>
                  <a:pt x="2869182" y="3307414"/>
                </a:lnTo>
                <a:lnTo>
                  <a:pt x="0" y="3307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1498698" y="1463370"/>
            <a:ext cx="1546940" cy="633388"/>
          </a:xfrm>
          <a:custGeom>
            <a:avLst/>
            <a:gdLst/>
            <a:ahLst/>
            <a:cxnLst/>
            <a:rect r="r" b="b" t="t" l="l"/>
            <a:pathLst>
              <a:path h="633388" w="1546940">
                <a:moveTo>
                  <a:pt x="0" y="0"/>
                </a:moveTo>
                <a:lnTo>
                  <a:pt x="1546940" y="0"/>
                </a:lnTo>
                <a:lnTo>
                  <a:pt x="1546940" y="633388"/>
                </a:lnTo>
                <a:lnTo>
                  <a:pt x="0" y="633388"/>
                </a:lnTo>
                <a:lnTo>
                  <a:pt x="0" y="0"/>
                </a:lnTo>
                <a:close/>
              </a:path>
            </a:pathLst>
          </a:custGeom>
          <a:blipFill>
            <a:blip r:embed="rId7">
              <a:extLst>
                <a:ext uri="{96DAC541-7B7A-43D3-8B79-37D633B846F1}">
                  <asvg:svgBlip xmlns:asvg="http://schemas.microsoft.com/office/drawing/2016/SVG/main" r:embed="rId8"/>
                </a:ext>
              </a:extLst>
            </a:blip>
            <a:stretch>
              <a:fillRect l="0" t="0" r="-86930" b="-328011"/>
            </a:stretch>
          </a:blipFill>
        </p:spPr>
      </p:sp>
      <p:sp>
        <p:nvSpPr>
          <p:cNvPr name="Freeform 5" id="5"/>
          <p:cNvSpPr/>
          <p:nvPr/>
        </p:nvSpPr>
        <p:spPr>
          <a:xfrm flipH="false" flipV="false" rot="0">
            <a:off x="4108931" y="3439192"/>
            <a:ext cx="1003179" cy="924179"/>
          </a:xfrm>
          <a:custGeom>
            <a:avLst/>
            <a:gdLst/>
            <a:ahLst/>
            <a:cxnLst/>
            <a:rect r="r" b="b" t="t" l="l"/>
            <a:pathLst>
              <a:path h="924179" w="1003179">
                <a:moveTo>
                  <a:pt x="0" y="0"/>
                </a:moveTo>
                <a:lnTo>
                  <a:pt x="1003179" y="0"/>
                </a:lnTo>
                <a:lnTo>
                  <a:pt x="1003179" y="924179"/>
                </a:lnTo>
                <a:lnTo>
                  <a:pt x="0" y="9241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5488043" y="677295"/>
            <a:ext cx="11301259" cy="4438924"/>
          </a:xfrm>
          <a:custGeom>
            <a:avLst/>
            <a:gdLst/>
            <a:ahLst/>
            <a:cxnLst/>
            <a:rect r="r" b="b" t="t" l="l"/>
            <a:pathLst>
              <a:path h="4438924" w="11301259">
                <a:moveTo>
                  <a:pt x="0" y="0"/>
                </a:moveTo>
                <a:lnTo>
                  <a:pt x="11301259" y="0"/>
                </a:lnTo>
                <a:lnTo>
                  <a:pt x="11301259" y="4438925"/>
                </a:lnTo>
                <a:lnTo>
                  <a:pt x="0" y="4438925"/>
                </a:lnTo>
                <a:lnTo>
                  <a:pt x="0" y="0"/>
                </a:lnTo>
                <a:close/>
              </a:path>
            </a:pathLst>
          </a:custGeom>
          <a:blipFill>
            <a:blip r:embed="rId11"/>
            <a:stretch>
              <a:fillRect l="0" t="0" r="0" b="-31434"/>
            </a:stretch>
          </a:blipFill>
        </p:spPr>
      </p:sp>
      <p:sp>
        <p:nvSpPr>
          <p:cNvPr name="Freeform 7" id="7"/>
          <p:cNvSpPr/>
          <p:nvPr/>
        </p:nvSpPr>
        <p:spPr>
          <a:xfrm flipH="false" flipV="false" rot="0">
            <a:off x="5488043" y="5515644"/>
            <a:ext cx="11301259" cy="3856555"/>
          </a:xfrm>
          <a:custGeom>
            <a:avLst/>
            <a:gdLst/>
            <a:ahLst/>
            <a:cxnLst/>
            <a:rect r="r" b="b" t="t" l="l"/>
            <a:pathLst>
              <a:path h="3856555" w="11301259">
                <a:moveTo>
                  <a:pt x="0" y="0"/>
                </a:moveTo>
                <a:lnTo>
                  <a:pt x="11301259" y="0"/>
                </a:lnTo>
                <a:lnTo>
                  <a:pt x="11301259" y="3856554"/>
                </a:lnTo>
                <a:lnTo>
                  <a:pt x="0" y="3856554"/>
                </a:lnTo>
                <a:lnTo>
                  <a:pt x="0" y="0"/>
                </a:lnTo>
                <a:close/>
              </a:path>
            </a:pathLst>
          </a:custGeom>
          <a:blipFill>
            <a:blip r:embed="rId12"/>
            <a:stretch>
              <a:fillRect l="0" t="0" r="0" b="0"/>
            </a:stretch>
          </a:blipFill>
        </p:spPr>
      </p:sp>
      <p:sp>
        <p:nvSpPr>
          <p:cNvPr name="TextBox 8" id="8"/>
          <p:cNvSpPr txBox="true"/>
          <p:nvPr/>
        </p:nvSpPr>
        <p:spPr>
          <a:xfrm rot="0">
            <a:off x="1511917" y="6087348"/>
            <a:ext cx="3976126" cy="1925320"/>
          </a:xfrm>
          <a:prstGeom prst="rect">
            <a:avLst/>
          </a:prstGeom>
        </p:spPr>
        <p:txBody>
          <a:bodyPr anchor="t" rtlCol="false" tIns="0" lIns="0" bIns="0" rIns="0">
            <a:spAutoFit/>
          </a:bodyPr>
          <a:lstStyle/>
          <a:p>
            <a:pPr algn="l">
              <a:lnSpc>
                <a:spcPts val="6800"/>
              </a:lnSpc>
            </a:pPr>
            <a:r>
              <a:rPr lang="en-US" sz="6800" spc="-374">
                <a:solidFill>
                  <a:srgbClr val="3E3F54"/>
                </a:solidFill>
                <a:latin typeface="Heading Now 71-78"/>
                <a:ea typeface="Heading Now 71-78"/>
                <a:cs typeface="Heading Now 71-78"/>
                <a:sym typeface="Heading Now 71-78"/>
              </a:rPr>
              <a:t>Data Quality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339553">
            <a:off x="1800060" y="2826667"/>
            <a:ext cx="2668636" cy="3224938"/>
          </a:xfrm>
          <a:custGeom>
            <a:avLst/>
            <a:gdLst/>
            <a:ahLst/>
            <a:cxnLst/>
            <a:rect r="r" b="b" t="t" l="l"/>
            <a:pathLst>
              <a:path h="3224938" w="2668636">
                <a:moveTo>
                  <a:pt x="0" y="0"/>
                </a:moveTo>
                <a:lnTo>
                  <a:pt x="2668636" y="0"/>
                </a:lnTo>
                <a:lnTo>
                  <a:pt x="2668636" y="3224938"/>
                </a:lnTo>
                <a:lnTo>
                  <a:pt x="0" y="32249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11917" y="1877180"/>
            <a:ext cx="2869182" cy="3307414"/>
          </a:xfrm>
          <a:custGeom>
            <a:avLst/>
            <a:gdLst/>
            <a:ahLst/>
            <a:cxnLst/>
            <a:rect r="r" b="b" t="t" l="l"/>
            <a:pathLst>
              <a:path h="3307414" w="2869182">
                <a:moveTo>
                  <a:pt x="0" y="0"/>
                </a:moveTo>
                <a:lnTo>
                  <a:pt x="2869182" y="0"/>
                </a:lnTo>
                <a:lnTo>
                  <a:pt x="2869182" y="3307414"/>
                </a:lnTo>
                <a:lnTo>
                  <a:pt x="0" y="3307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1498698" y="1463370"/>
            <a:ext cx="1546940" cy="633388"/>
          </a:xfrm>
          <a:custGeom>
            <a:avLst/>
            <a:gdLst/>
            <a:ahLst/>
            <a:cxnLst/>
            <a:rect r="r" b="b" t="t" l="l"/>
            <a:pathLst>
              <a:path h="633388" w="1546940">
                <a:moveTo>
                  <a:pt x="0" y="0"/>
                </a:moveTo>
                <a:lnTo>
                  <a:pt x="1546940" y="0"/>
                </a:lnTo>
                <a:lnTo>
                  <a:pt x="1546940" y="633388"/>
                </a:lnTo>
                <a:lnTo>
                  <a:pt x="0" y="633388"/>
                </a:lnTo>
                <a:lnTo>
                  <a:pt x="0" y="0"/>
                </a:lnTo>
                <a:close/>
              </a:path>
            </a:pathLst>
          </a:custGeom>
          <a:blipFill>
            <a:blip r:embed="rId7">
              <a:extLst>
                <a:ext uri="{96DAC541-7B7A-43D3-8B79-37D633B846F1}">
                  <asvg:svgBlip xmlns:asvg="http://schemas.microsoft.com/office/drawing/2016/SVG/main" r:embed="rId8"/>
                </a:ext>
              </a:extLst>
            </a:blip>
            <a:stretch>
              <a:fillRect l="0" t="0" r="-86930" b="-328011"/>
            </a:stretch>
          </a:blipFill>
        </p:spPr>
      </p:sp>
      <p:sp>
        <p:nvSpPr>
          <p:cNvPr name="Freeform 5" id="5"/>
          <p:cNvSpPr/>
          <p:nvPr/>
        </p:nvSpPr>
        <p:spPr>
          <a:xfrm flipH="false" flipV="false" rot="0">
            <a:off x="4108931" y="3439192"/>
            <a:ext cx="1003179" cy="924179"/>
          </a:xfrm>
          <a:custGeom>
            <a:avLst/>
            <a:gdLst/>
            <a:ahLst/>
            <a:cxnLst/>
            <a:rect r="r" b="b" t="t" l="l"/>
            <a:pathLst>
              <a:path h="924179" w="1003179">
                <a:moveTo>
                  <a:pt x="0" y="0"/>
                </a:moveTo>
                <a:lnTo>
                  <a:pt x="1003179" y="0"/>
                </a:lnTo>
                <a:lnTo>
                  <a:pt x="1003179" y="924179"/>
                </a:lnTo>
                <a:lnTo>
                  <a:pt x="0" y="9241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302248" y="6475730"/>
            <a:ext cx="6616545" cy="2782570"/>
          </a:xfrm>
          <a:prstGeom prst="rect">
            <a:avLst/>
          </a:prstGeom>
        </p:spPr>
        <p:txBody>
          <a:bodyPr anchor="t" rtlCol="false" tIns="0" lIns="0" bIns="0" rIns="0">
            <a:spAutoFit/>
          </a:bodyPr>
          <a:lstStyle/>
          <a:p>
            <a:pPr algn="l">
              <a:lnSpc>
                <a:spcPts val="6800"/>
              </a:lnSpc>
            </a:pPr>
            <a:r>
              <a:rPr lang="en-US" sz="6800" spc="-374">
                <a:solidFill>
                  <a:srgbClr val="3E3F54"/>
                </a:solidFill>
                <a:latin typeface="Heading Now 71-78"/>
                <a:ea typeface="Heading Now 71-78"/>
                <a:cs typeface="Heading Now 71-78"/>
                <a:sym typeface="Heading Now 71-78"/>
              </a:rPr>
              <a:t>Access Control</a:t>
            </a:r>
          </a:p>
          <a:p>
            <a:pPr algn="l">
              <a:lnSpc>
                <a:spcPts val="6800"/>
              </a:lnSpc>
            </a:pPr>
            <a:r>
              <a:rPr lang="en-US" sz="6800" spc="-374">
                <a:solidFill>
                  <a:srgbClr val="3E3F54"/>
                </a:solidFill>
                <a:latin typeface="Heading Now 71-78"/>
                <a:ea typeface="Heading Now 71-78"/>
                <a:cs typeface="Heading Now 71-78"/>
                <a:sym typeface="Heading Now 71-78"/>
              </a:rPr>
              <a:t>and </a:t>
            </a:r>
          </a:p>
          <a:p>
            <a:pPr algn="l">
              <a:lnSpc>
                <a:spcPts val="6800"/>
              </a:lnSpc>
            </a:pPr>
            <a:r>
              <a:rPr lang="en-US" sz="6800" spc="-374">
                <a:solidFill>
                  <a:srgbClr val="3E3F54"/>
                </a:solidFill>
                <a:latin typeface="Heading Now 71-78"/>
                <a:ea typeface="Heading Now 71-78"/>
                <a:cs typeface="Heading Now 71-78"/>
                <a:sym typeface="Heading Now 71-78"/>
              </a:rPr>
              <a:t>User Privacy</a:t>
            </a:r>
          </a:p>
        </p:txBody>
      </p:sp>
      <p:grpSp>
        <p:nvGrpSpPr>
          <p:cNvPr name="Group 7" id="7"/>
          <p:cNvGrpSpPr/>
          <p:nvPr/>
        </p:nvGrpSpPr>
        <p:grpSpPr>
          <a:xfrm rot="0">
            <a:off x="7918793" y="2314741"/>
            <a:ext cx="9202511" cy="4097261"/>
            <a:chOff x="0" y="0"/>
            <a:chExt cx="2722092" cy="1211965"/>
          </a:xfrm>
        </p:grpSpPr>
        <p:sp>
          <p:nvSpPr>
            <p:cNvPr name="Freeform 8" id="8"/>
            <p:cNvSpPr/>
            <p:nvPr/>
          </p:nvSpPr>
          <p:spPr>
            <a:xfrm flipH="false" flipV="false" rot="0">
              <a:off x="0" y="0"/>
              <a:ext cx="2722092" cy="1211965"/>
            </a:xfrm>
            <a:custGeom>
              <a:avLst/>
              <a:gdLst/>
              <a:ahLst/>
              <a:cxnLst/>
              <a:rect r="r" b="b" t="t" l="l"/>
              <a:pathLst>
                <a:path h="1211965" w="2722092">
                  <a:moveTo>
                    <a:pt x="42905" y="0"/>
                  </a:moveTo>
                  <a:lnTo>
                    <a:pt x="2679186" y="0"/>
                  </a:lnTo>
                  <a:cubicBezTo>
                    <a:pt x="2702882" y="0"/>
                    <a:pt x="2722092" y="19209"/>
                    <a:pt x="2722092" y="42905"/>
                  </a:cubicBezTo>
                  <a:lnTo>
                    <a:pt x="2722092" y="1169060"/>
                  </a:lnTo>
                  <a:cubicBezTo>
                    <a:pt x="2722092" y="1192756"/>
                    <a:pt x="2702882" y="1211965"/>
                    <a:pt x="2679186" y="1211965"/>
                  </a:cubicBezTo>
                  <a:lnTo>
                    <a:pt x="42905" y="1211965"/>
                  </a:lnTo>
                  <a:cubicBezTo>
                    <a:pt x="19209" y="1211965"/>
                    <a:pt x="0" y="1192756"/>
                    <a:pt x="0" y="1169060"/>
                  </a:cubicBezTo>
                  <a:lnTo>
                    <a:pt x="0" y="42905"/>
                  </a:lnTo>
                  <a:cubicBezTo>
                    <a:pt x="0" y="19209"/>
                    <a:pt x="19209" y="0"/>
                    <a:pt x="42905" y="0"/>
                  </a:cubicBezTo>
                  <a:close/>
                </a:path>
              </a:pathLst>
            </a:custGeom>
            <a:solidFill>
              <a:srgbClr val="FBC76F"/>
            </a:solidFill>
          </p:spPr>
        </p:sp>
        <p:sp>
          <p:nvSpPr>
            <p:cNvPr name="TextBox 9" id="9"/>
            <p:cNvSpPr txBox="true"/>
            <p:nvPr/>
          </p:nvSpPr>
          <p:spPr>
            <a:xfrm>
              <a:off x="0" y="-47625"/>
              <a:ext cx="2722092" cy="1259590"/>
            </a:xfrm>
            <a:prstGeom prst="rect">
              <a:avLst/>
            </a:prstGeom>
          </p:spPr>
          <p:txBody>
            <a:bodyPr anchor="ctr" rtlCol="false" tIns="50800" lIns="50800" bIns="50800" rIns="50800"/>
            <a:lstStyle/>
            <a:p>
              <a:pPr algn="ctr">
                <a:lnSpc>
                  <a:spcPts val="3360"/>
                </a:lnSpc>
              </a:pPr>
            </a:p>
          </p:txBody>
        </p:sp>
      </p:grpSp>
      <p:sp>
        <p:nvSpPr>
          <p:cNvPr name="Freeform 10" id="10"/>
          <p:cNvSpPr/>
          <p:nvPr/>
        </p:nvSpPr>
        <p:spPr>
          <a:xfrm flipH="false" flipV="false" rot="0">
            <a:off x="8549568" y="2961252"/>
            <a:ext cx="594432" cy="594432"/>
          </a:xfrm>
          <a:custGeom>
            <a:avLst/>
            <a:gdLst/>
            <a:ahLst/>
            <a:cxnLst/>
            <a:rect r="r" b="b" t="t" l="l"/>
            <a:pathLst>
              <a:path h="594432" w="594432">
                <a:moveTo>
                  <a:pt x="0" y="0"/>
                </a:moveTo>
                <a:lnTo>
                  <a:pt x="594432" y="0"/>
                </a:lnTo>
                <a:lnTo>
                  <a:pt x="594432" y="594431"/>
                </a:lnTo>
                <a:lnTo>
                  <a:pt x="0" y="5944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8549568" y="4474153"/>
            <a:ext cx="624791" cy="624791"/>
          </a:xfrm>
          <a:custGeom>
            <a:avLst/>
            <a:gdLst/>
            <a:ahLst/>
            <a:cxnLst/>
            <a:rect r="r" b="b" t="t" l="l"/>
            <a:pathLst>
              <a:path h="624791" w="624791">
                <a:moveTo>
                  <a:pt x="0" y="0"/>
                </a:moveTo>
                <a:lnTo>
                  <a:pt x="624791" y="0"/>
                </a:lnTo>
                <a:lnTo>
                  <a:pt x="624791" y="624791"/>
                </a:lnTo>
                <a:lnTo>
                  <a:pt x="0" y="62479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2" id="12"/>
          <p:cNvSpPr txBox="true"/>
          <p:nvPr/>
        </p:nvSpPr>
        <p:spPr>
          <a:xfrm rot="0">
            <a:off x="9476768" y="5268250"/>
            <a:ext cx="7212812" cy="466725"/>
          </a:xfrm>
          <a:prstGeom prst="rect">
            <a:avLst/>
          </a:prstGeom>
        </p:spPr>
        <p:txBody>
          <a:bodyPr anchor="t" rtlCol="false" tIns="0" lIns="0" bIns="0" rIns="0">
            <a:spAutoFit/>
          </a:bodyPr>
          <a:lstStyle/>
          <a:p>
            <a:pPr algn="just">
              <a:lnSpc>
                <a:spcPts val="3719"/>
              </a:lnSpc>
            </a:pPr>
            <a:r>
              <a:rPr lang="en-US" sz="3099">
                <a:solidFill>
                  <a:srgbClr val="3E3F54"/>
                </a:solidFill>
                <a:latin typeface="TT Firs Neue"/>
                <a:ea typeface="TT Firs Neue"/>
                <a:cs typeface="TT Firs Neue"/>
                <a:sym typeface="TT Firs Neue"/>
              </a:rPr>
              <a:t>Course feedback remains anonymous</a:t>
            </a:r>
          </a:p>
        </p:txBody>
      </p:sp>
      <p:sp>
        <p:nvSpPr>
          <p:cNvPr name="TextBox 13" id="13"/>
          <p:cNvSpPr txBox="true"/>
          <p:nvPr/>
        </p:nvSpPr>
        <p:spPr>
          <a:xfrm rot="0">
            <a:off x="9476768" y="3735995"/>
            <a:ext cx="7644536" cy="485775"/>
          </a:xfrm>
          <a:prstGeom prst="rect">
            <a:avLst/>
          </a:prstGeom>
        </p:spPr>
        <p:txBody>
          <a:bodyPr anchor="t" rtlCol="false" tIns="0" lIns="0" bIns="0" rIns="0">
            <a:spAutoFit/>
          </a:bodyPr>
          <a:lstStyle/>
          <a:p>
            <a:pPr algn="just">
              <a:lnSpc>
                <a:spcPts val="3840"/>
              </a:lnSpc>
            </a:pPr>
            <a:r>
              <a:rPr lang="en-US" sz="3200">
                <a:solidFill>
                  <a:srgbClr val="3E3F54"/>
                </a:solidFill>
                <a:latin typeface="TT Firs Neue"/>
                <a:ea typeface="TT Firs Neue"/>
                <a:cs typeface="TT Firs Neue"/>
                <a:sym typeface="TT Firs Neue"/>
              </a:rPr>
              <a:t>UW email login is required</a:t>
            </a:r>
          </a:p>
        </p:txBody>
      </p:sp>
      <p:sp>
        <p:nvSpPr>
          <p:cNvPr name="TextBox 14" id="14"/>
          <p:cNvSpPr txBox="true"/>
          <p:nvPr/>
        </p:nvSpPr>
        <p:spPr>
          <a:xfrm rot="0">
            <a:off x="9476768" y="3069908"/>
            <a:ext cx="7644536" cy="485775"/>
          </a:xfrm>
          <a:prstGeom prst="rect">
            <a:avLst/>
          </a:prstGeom>
        </p:spPr>
        <p:txBody>
          <a:bodyPr anchor="t" rtlCol="false" tIns="0" lIns="0" bIns="0" rIns="0">
            <a:spAutoFit/>
          </a:bodyPr>
          <a:lstStyle/>
          <a:p>
            <a:pPr algn="just">
              <a:lnSpc>
                <a:spcPts val="3960"/>
              </a:lnSpc>
            </a:pPr>
            <a:r>
              <a:rPr lang="en-US" b="true" sz="3300">
                <a:solidFill>
                  <a:srgbClr val="3E3F54"/>
                </a:solidFill>
                <a:latin typeface="TT Firs Neue Bold"/>
                <a:ea typeface="TT Firs Neue Bold"/>
                <a:cs typeface="TT Firs Neue Bold"/>
                <a:sym typeface="TT Firs Neue Bold"/>
              </a:rPr>
              <a:t>Identity Management</a:t>
            </a:r>
          </a:p>
        </p:txBody>
      </p:sp>
      <p:sp>
        <p:nvSpPr>
          <p:cNvPr name="TextBox 15" id="15"/>
          <p:cNvSpPr txBox="true"/>
          <p:nvPr/>
        </p:nvSpPr>
        <p:spPr>
          <a:xfrm rot="0">
            <a:off x="9476768" y="4548423"/>
            <a:ext cx="7644536" cy="485775"/>
          </a:xfrm>
          <a:prstGeom prst="rect">
            <a:avLst/>
          </a:prstGeom>
        </p:spPr>
        <p:txBody>
          <a:bodyPr anchor="t" rtlCol="false" tIns="0" lIns="0" bIns="0" rIns="0">
            <a:spAutoFit/>
          </a:bodyPr>
          <a:lstStyle/>
          <a:p>
            <a:pPr algn="just">
              <a:lnSpc>
                <a:spcPts val="3960"/>
              </a:lnSpc>
            </a:pPr>
            <a:r>
              <a:rPr lang="en-US" b="true" sz="3300">
                <a:solidFill>
                  <a:srgbClr val="3E3F54"/>
                </a:solidFill>
                <a:latin typeface="TT Firs Neue Bold"/>
                <a:ea typeface="TT Firs Neue Bold"/>
                <a:cs typeface="TT Firs Neue Bold"/>
                <a:sym typeface="TT Firs Neue Bold"/>
              </a:rPr>
              <a:t>Data Privacy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88295" y="2409644"/>
            <a:ext cx="13711411" cy="3894273"/>
            <a:chOff x="0" y="0"/>
            <a:chExt cx="3611236" cy="1025652"/>
          </a:xfrm>
        </p:grpSpPr>
        <p:sp>
          <p:nvSpPr>
            <p:cNvPr name="Freeform 3" id="3"/>
            <p:cNvSpPr/>
            <p:nvPr/>
          </p:nvSpPr>
          <p:spPr>
            <a:xfrm flipH="false" flipV="false" rot="0">
              <a:off x="0" y="0"/>
              <a:ext cx="3611236" cy="1025652"/>
            </a:xfrm>
            <a:custGeom>
              <a:avLst/>
              <a:gdLst/>
              <a:ahLst/>
              <a:cxnLst/>
              <a:rect r="r" b="b" t="t" l="l"/>
              <a:pathLst>
                <a:path h="1025652" w="3611236">
                  <a:moveTo>
                    <a:pt x="28796" y="0"/>
                  </a:moveTo>
                  <a:lnTo>
                    <a:pt x="3582439" y="0"/>
                  </a:lnTo>
                  <a:cubicBezTo>
                    <a:pt x="3590077" y="0"/>
                    <a:pt x="3597401" y="3034"/>
                    <a:pt x="3602801" y="8434"/>
                  </a:cubicBezTo>
                  <a:cubicBezTo>
                    <a:pt x="3608202" y="13835"/>
                    <a:pt x="3611236" y="21159"/>
                    <a:pt x="3611236" y="28796"/>
                  </a:cubicBezTo>
                  <a:lnTo>
                    <a:pt x="3611236" y="996856"/>
                  </a:lnTo>
                  <a:cubicBezTo>
                    <a:pt x="3611236" y="1004493"/>
                    <a:pt x="3608202" y="1011818"/>
                    <a:pt x="3602801" y="1017218"/>
                  </a:cubicBezTo>
                  <a:cubicBezTo>
                    <a:pt x="3597401" y="1022618"/>
                    <a:pt x="3590077" y="1025652"/>
                    <a:pt x="3582439" y="1025652"/>
                  </a:cubicBezTo>
                  <a:lnTo>
                    <a:pt x="28796" y="1025652"/>
                  </a:lnTo>
                  <a:cubicBezTo>
                    <a:pt x="21159" y="1025652"/>
                    <a:pt x="13835" y="1022618"/>
                    <a:pt x="8434" y="1017218"/>
                  </a:cubicBezTo>
                  <a:cubicBezTo>
                    <a:pt x="3034" y="1011818"/>
                    <a:pt x="0" y="1004493"/>
                    <a:pt x="0" y="996856"/>
                  </a:cubicBezTo>
                  <a:lnTo>
                    <a:pt x="0" y="28796"/>
                  </a:lnTo>
                  <a:cubicBezTo>
                    <a:pt x="0" y="21159"/>
                    <a:pt x="3034" y="13835"/>
                    <a:pt x="8434" y="8434"/>
                  </a:cubicBezTo>
                  <a:cubicBezTo>
                    <a:pt x="13835" y="3034"/>
                    <a:pt x="21159" y="0"/>
                    <a:pt x="28796" y="0"/>
                  </a:cubicBezTo>
                  <a:close/>
                </a:path>
              </a:pathLst>
            </a:custGeom>
            <a:solidFill>
              <a:srgbClr val="FBC76F"/>
            </a:solidFill>
          </p:spPr>
        </p:sp>
        <p:sp>
          <p:nvSpPr>
            <p:cNvPr name="TextBox 4" id="4"/>
            <p:cNvSpPr txBox="true"/>
            <p:nvPr/>
          </p:nvSpPr>
          <p:spPr>
            <a:xfrm>
              <a:off x="0" y="-47625"/>
              <a:ext cx="3611236" cy="1073277"/>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7700388" y="1959854"/>
            <a:ext cx="1344021" cy="1344021"/>
          </a:xfrm>
          <a:custGeom>
            <a:avLst/>
            <a:gdLst/>
            <a:ahLst/>
            <a:cxnLst/>
            <a:rect r="r" b="b" t="t" l="l"/>
            <a:pathLst>
              <a:path h="1344021" w="1344021">
                <a:moveTo>
                  <a:pt x="0" y="0"/>
                </a:moveTo>
                <a:lnTo>
                  <a:pt x="1344022" y="0"/>
                </a:lnTo>
                <a:lnTo>
                  <a:pt x="1344022" y="1344022"/>
                </a:lnTo>
                <a:lnTo>
                  <a:pt x="0" y="1344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5302121" y="3548744"/>
            <a:ext cx="7484576" cy="1568449"/>
          </a:xfrm>
          <a:prstGeom prst="rect">
            <a:avLst/>
          </a:prstGeom>
        </p:spPr>
        <p:txBody>
          <a:bodyPr anchor="t" rtlCol="false" tIns="0" lIns="0" bIns="0" rIns="0">
            <a:spAutoFit/>
          </a:bodyPr>
          <a:lstStyle/>
          <a:p>
            <a:pPr algn="ctr">
              <a:lnSpc>
                <a:spcPts val="9999"/>
              </a:lnSpc>
            </a:pPr>
            <a:r>
              <a:rPr lang="en-US" sz="9999" spc="-549">
                <a:solidFill>
                  <a:srgbClr val="3E3F54"/>
                </a:solidFill>
                <a:latin typeface="Heading Now 71-78"/>
                <a:ea typeface="Heading Now 71-78"/>
                <a:cs typeface="Heading Now 71-78"/>
                <a:sym typeface="Heading Now 71-78"/>
              </a:rPr>
              <a:t>Demo </a:t>
            </a:r>
          </a:p>
        </p:txBody>
      </p:sp>
      <p:sp>
        <p:nvSpPr>
          <p:cNvPr name="Freeform 7" id="7"/>
          <p:cNvSpPr/>
          <p:nvPr/>
        </p:nvSpPr>
        <p:spPr>
          <a:xfrm flipH="false" flipV="false" rot="0">
            <a:off x="8230457" y="2631865"/>
            <a:ext cx="1627905" cy="488782"/>
          </a:xfrm>
          <a:custGeom>
            <a:avLst/>
            <a:gdLst/>
            <a:ahLst/>
            <a:cxnLst/>
            <a:rect r="r" b="b" t="t" l="l"/>
            <a:pathLst>
              <a:path h="488782" w="1627905">
                <a:moveTo>
                  <a:pt x="0" y="0"/>
                </a:moveTo>
                <a:lnTo>
                  <a:pt x="1627905" y="0"/>
                </a:lnTo>
                <a:lnTo>
                  <a:pt x="1627905" y="488782"/>
                </a:lnTo>
                <a:lnTo>
                  <a:pt x="0" y="488782"/>
                </a:lnTo>
                <a:lnTo>
                  <a:pt x="0" y="0"/>
                </a:lnTo>
                <a:close/>
              </a:path>
            </a:pathLst>
          </a:custGeom>
          <a:blipFill>
            <a:blip r:embed="rId4">
              <a:extLst>
                <a:ext uri="{96DAC541-7B7A-43D3-8B79-37D633B846F1}">
                  <asvg:svgBlip xmlns:asvg="http://schemas.microsoft.com/office/drawing/2016/SVG/main" r:embed="rId5"/>
                </a:ext>
              </a:extLst>
            </a:blip>
            <a:stretch>
              <a:fillRect l="0" t="0" r="-89251" b="-454409"/>
            </a:stretch>
          </a:blipFill>
          <a:ln cap="sq">
            <a:noFill/>
            <a:prstDash val="solid"/>
            <a:miter/>
          </a:ln>
        </p:spPr>
      </p:sp>
      <p:sp>
        <p:nvSpPr>
          <p:cNvPr name="Freeform 8" id="8"/>
          <p:cNvSpPr/>
          <p:nvPr/>
        </p:nvSpPr>
        <p:spPr>
          <a:xfrm flipH="false" flipV="false" rot="0">
            <a:off x="14359276" y="3120647"/>
            <a:ext cx="584000" cy="580837"/>
          </a:xfrm>
          <a:custGeom>
            <a:avLst/>
            <a:gdLst/>
            <a:ahLst/>
            <a:cxnLst/>
            <a:rect r="r" b="b" t="t" l="l"/>
            <a:pathLst>
              <a:path h="580837" w="584000">
                <a:moveTo>
                  <a:pt x="0" y="0"/>
                </a:moveTo>
                <a:lnTo>
                  <a:pt x="584000" y="0"/>
                </a:lnTo>
                <a:lnTo>
                  <a:pt x="584000" y="580837"/>
                </a:lnTo>
                <a:lnTo>
                  <a:pt x="0" y="5808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9" id="9"/>
          <p:cNvSpPr/>
          <p:nvPr/>
        </p:nvSpPr>
        <p:spPr>
          <a:xfrm flipH="false" flipV="false" rot="0">
            <a:off x="6593900" y="5690956"/>
            <a:ext cx="1636557" cy="274805"/>
          </a:xfrm>
          <a:custGeom>
            <a:avLst/>
            <a:gdLst/>
            <a:ahLst/>
            <a:cxnLst/>
            <a:rect r="r" b="b" t="t" l="l"/>
            <a:pathLst>
              <a:path h="274805" w="1636557">
                <a:moveTo>
                  <a:pt x="0" y="0"/>
                </a:moveTo>
                <a:lnTo>
                  <a:pt x="1636557" y="0"/>
                </a:lnTo>
                <a:lnTo>
                  <a:pt x="1636557" y="274805"/>
                </a:lnTo>
                <a:lnTo>
                  <a:pt x="0" y="2748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1956945" y="5510899"/>
            <a:ext cx="4948195" cy="4311114"/>
          </a:xfrm>
          <a:custGeom>
            <a:avLst/>
            <a:gdLst/>
            <a:ahLst/>
            <a:cxnLst/>
            <a:rect r="r" b="b" t="t" l="l"/>
            <a:pathLst>
              <a:path h="4311114" w="4948195">
                <a:moveTo>
                  <a:pt x="0" y="0"/>
                </a:moveTo>
                <a:lnTo>
                  <a:pt x="4948195" y="0"/>
                </a:lnTo>
                <a:lnTo>
                  <a:pt x="4948195" y="4311115"/>
                </a:lnTo>
                <a:lnTo>
                  <a:pt x="0" y="431111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1" id="11"/>
          <p:cNvSpPr/>
          <p:nvPr/>
        </p:nvSpPr>
        <p:spPr>
          <a:xfrm flipH="false" flipV="false" rot="0">
            <a:off x="12559303" y="5707214"/>
            <a:ext cx="3518154" cy="4114800"/>
          </a:xfrm>
          <a:custGeom>
            <a:avLst/>
            <a:gdLst/>
            <a:ahLst/>
            <a:cxnLst/>
            <a:rect r="r" b="b" t="t" l="l"/>
            <a:pathLst>
              <a:path h="4114800" w="3518154">
                <a:moveTo>
                  <a:pt x="0" y="0"/>
                </a:moveTo>
                <a:lnTo>
                  <a:pt x="3518154" y="0"/>
                </a:lnTo>
                <a:lnTo>
                  <a:pt x="3518154"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2" id="12"/>
          <p:cNvSpPr/>
          <p:nvPr/>
        </p:nvSpPr>
        <p:spPr>
          <a:xfrm flipH="false" flipV="false" rot="0">
            <a:off x="11754490" y="5510899"/>
            <a:ext cx="1609626" cy="832311"/>
          </a:xfrm>
          <a:custGeom>
            <a:avLst/>
            <a:gdLst/>
            <a:ahLst/>
            <a:cxnLst/>
            <a:rect r="r" b="b" t="t" l="l"/>
            <a:pathLst>
              <a:path h="832311" w="1609626">
                <a:moveTo>
                  <a:pt x="0" y="0"/>
                </a:moveTo>
                <a:lnTo>
                  <a:pt x="1609626" y="0"/>
                </a:lnTo>
                <a:lnTo>
                  <a:pt x="1609626" y="832311"/>
                </a:lnTo>
                <a:lnTo>
                  <a:pt x="0" y="83231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6585005" y="8040569"/>
            <a:ext cx="963058" cy="946204"/>
          </a:xfrm>
          <a:custGeom>
            <a:avLst/>
            <a:gdLst/>
            <a:ahLst/>
            <a:cxnLst/>
            <a:rect r="r" b="b" t="t" l="l"/>
            <a:pathLst>
              <a:path h="946204" w="963058">
                <a:moveTo>
                  <a:pt x="0" y="0"/>
                </a:moveTo>
                <a:lnTo>
                  <a:pt x="963058" y="0"/>
                </a:lnTo>
                <a:lnTo>
                  <a:pt x="963058" y="946205"/>
                </a:lnTo>
                <a:lnTo>
                  <a:pt x="0" y="94620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64975" y="375550"/>
            <a:ext cx="2231895" cy="2231895"/>
          </a:xfrm>
          <a:custGeom>
            <a:avLst/>
            <a:gdLst/>
            <a:ahLst/>
            <a:cxnLst/>
            <a:rect r="r" b="b" t="t" l="l"/>
            <a:pathLst>
              <a:path h="2231895" w="2231895">
                <a:moveTo>
                  <a:pt x="0" y="0"/>
                </a:moveTo>
                <a:lnTo>
                  <a:pt x="2231895" y="0"/>
                </a:lnTo>
                <a:lnTo>
                  <a:pt x="2231895" y="2231895"/>
                </a:lnTo>
                <a:lnTo>
                  <a:pt x="0" y="22318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736357" y="2703859"/>
            <a:ext cx="12815285" cy="5718032"/>
            <a:chOff x="0" y="0"/>
            <a:chExt cx="2943385" cy="1313304"/>
          </a:xfrm>
        </p:grpSpPr>
        <p:sp>
          <p:nvSpPr>
            <p:cNvPr name="Freeform 4" id="4"/>
            <p:cNvSpPr/>
            <p:nvPr/>
          </p:nvSpPr>
          <p:spPr>
            <a:xfrm flipH="false" flipV="false" rot="0">
              <a:off x="0" y="0"/>
              <a:ext cx="2943385" cy="1313304"/>
            </a:xfrm>
            <a:custGeom>
              <a:avLst/>
              <a:gdLst/>
              <a:ahLst/>
              <a:cxnLst/>
              <a:rect r="r" b="b" t="t" l="l"/>
              <a:pathLst>
                <a:path h="1313304" w="2943385">
                  <a:moveTo>
                    <a:pt x="30810" y="0"/>
                  </a:moveTo>
                  <a:lnTo>
                    <a:pt x="2912575" y="0"/>
                  </a:lnTo>
                  <a:cubicBezTo>
                    <a:pt x="2929591" y="0"/>
                    <a:pt x="2943385" y="13794"/>
                    <a:pt x="2943385" y="30810"/>
                  </a:cubicBezTo>
                  <a:lnTo>
                    <a:pt x="2943385" y="1282494"/>
                  </a:lnTo>
                  <a:cubicBezTo>
                    <a:pt x="2943385" y="1290666"/>
                    <a:pt x="2940139" y="1298502"/>
                    <a:pt x="2934361" y="1304280"/>
                  </a:cubicBezTo>
                  <a:cubicBezTo>
                    <a:pt x="2928583" y="1310058"/>
                    <a:pt x="2920746" y="1313304"/>
                    <a:pt x="2912575" y="1313304"/>
                  </a:cubicBezTo>
                  <a:lnTo>
                    <a:pt x="30810" y="1313304"/>
                  </a:lnTo>
                  <a:cubicBezTo>
                    <a:pt x="22639" y="1313304"/>
                    <a:pt x="14802" y="1310058"/>
                    <a:pt x="9024" y="1304280"/>
                  </a:cubicBezTo>
                  <a:cubicBezTo>
                    <a:pt x="3246" y="1298502"/>
                    <a:pt x="0" y="1290666"/>
                    <a:pt x="0" y="1282494"/>
                  </a:cubicBezTo>
                  <a:lnTo>
                    <a:pt x="0" y="30810"/>
                  </a:lnTo>
                  <a:cubicBezTo>
                    <a:pt x="0" y="22639"/>
                    <a:pt x="3246" y="14802"/>
                    <a:pt x="9024" y="9024"/>
                  </a:cubicBezTo>
                  <a:cubicBezTo>
                    <a:pt x="14802" y="3246"/>
                    <a:pt x="22639" y="0"/>
                    <a:pt x="30810" y="0"/>
                  </a:cubicBezTo>
                  <a:close/>
                </a:path>
              </a:pathLst>
            </a:custGeom>
            <a:solidFill>
              <a:srgbClr val="FBC76F"/>
            </a:solidFill>
          </p:spPr>
        </p:sp>
        <p:sp>
          <p:nvSpPr>
            <p:cNvPr name="TextBox 5" id="5"/>
            <p:cNvSpPr txBox="true"/>
            <p:nvPr/>
          </p:nvSpPr>
          <p:spPr>
            <a:xfrm>
              <a:off x="0" y="-47625"/>
              <a:ext cx="2943385" cy="1360929"/>
            </a:xfrm>
            <a:prstGeom prst="rect">
              <a:avLst/>
            </a:prstGeom>
          </p:spPr>
          <p:txBody>
            <a:bodyPr anchor="ctr" rtlCol="false" tIns="50800" lIns="50800" bIns="50800" rIns="50800"/>
            <a:lstStyle/>
            <a:p>
              <a:pPr algn="ctr">
                <a:lnSpc>
                  <a:spcPts val="3360"/>
                </a:lnSpc>
              </a:pPr>
            </a:p>
          </p:txBody>
        </p:sp>
      </p:grpSp>
      <p:sp>
        <p:nvSpPr>
          <p:cNvPr name="Freeform 6" id="6"/>
          <p:cNvSpPr/>
          <p:nvPr/>
        </p:nvSpPr>
        <p:spPr>
          <a:xfrm flipH="false" flipV="false" rot="0">
            <a:off x="15278587" y="603708"/>
            <a:ext cx="1340173" cy="464809"/>
          </a:xfrm>
          <a:custGeom>
            <a:avLst/>
            <a:gdLst/>
            <a:ahLst/>
            <a:cxnLst/>
            <a:rect r="r" b="b" t="t" l="l"/>
            <a:pathLst>
              <a:path h="464809" w="1340173">
                <a:moveTo>
                  <a:pt x="0" y="0"/>
                </a:moveTo>
                <a:lnTo>
                  <a:pt x="1340173" y="0"/>
                </a:lnTo>
                <a:lnTo>
                  <a:pt x="1340173" y="464809"/>
                </a:lnTo>
                <a:lnTo>
                  <a:pt x="0" y="464809"/>
                </a:lnTo>
                <a:lnTo>
                  <a:pt x="0" y="0"/>
                </a:lnTo>
                <a:close/>
              </a:path>
            </a:pathLst>
          </a:custGeom>
          <a:blipFill>
            <a:blip r:embed="rId5">
              <a:extLst>
                <a:ext uri="{96DAC541-7B7A-43D3-8B79-37D633B846F1}">
                  <asvg:svgBlip xmlns:asvg="http://schemas.microsoft.com/office/drawing/2016/SVG/main" r:embed="rId6"/>
                </a:ext>
              </a:extLst>
            </a:blip>
            <a:stretch>
              <a:fillRect l="0" t="-271288" r="-56404" b="0"/>
            </a:stretch>
          </a:blipFill>
          <a:ln cap="sq">
            <a:noFill/>
            <a:prstDash val="solid"/>
            <a:miter/>
          </a:ln>
        </p:spPr>
      </p:sp>
      <p:sp>
        <p:nvSpPr>
          <p:cNvPr name="Freeform 7" id="7"/>
          <p:cNvSpPr/>
          <p:nvPr/>
        </p:nvSpPr>
        <p:spPr>
          <a:xfrm flipH="false" flipV="false" rot="0">
            <a:off x="16669658" y="3228875"/>
            <a:ext cx="1735990" cy="622786"/>
          </a:xfrm>
          <a:custGeom>
            <a:avLst/>
            <a:gdLst/>
            <a:ahLst/>
            <a:cxnLst/>
            <a:rect r="r" b="b" t="t" l="l"/>
            <a:pathLst>
              <a:path h="622786" w="1735990">
                <a:moveTo>
                  <a:pt x="0" y="0"/>
                </a:moveTo>
                <a:lnTo>
                  <a:pt x="1735989" y="0"/>
                </a:lnTo>
                <a:lnTo>
                  <a:pt x="1735989" y="622786"/>
                </a:lnTo>
                <a:lnTo>
                  <a:pt x="0" y="6227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0">
            <a:off x="1028700" y="2472461"/>
            <a:ext cx="938103" cy="462798"/>
          </a:xfrm>
          <a:custGeom>
            <a:avLst/>
            <a:gdLst/>
            <a:ahLst/>
            <a:cxnLst/>
            <a:rect r="r" b="b" t="t" l="l"/>
            <a:pathLst>
              <a:path h="462798" w="938103">
                <a:moveTo>
                  <a:pt x="0" y="0"/>
                </a:moveTo>
                <a:lnTo>
                  <a:pt x="938103" y="0"/>
                </a:lnTo>
                <a:lnTo>
                  <a:pt x="938103" y="462797"/>
                </a:lnTo>
                <a:lnTo>
                  <a:pt x="0" y="4627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9" id="9"/>
          <p:cNvSpPr/>
          <p:nvPr/>
        </p:nvSpPr>
        <p:spPr>
          <a:xfrm flipH="false" flipV="false" rot="0">
            <a:off x="3673259" y="3550061"/>
            <a:ext cx="765561" cy="765561"/>
          </a:xfrm>
          <a:custGeom>
            <a:avLst/>
            <a:gdLst/>
            <a:ahLst/>
            <a:cxnLst/>
            <a:rect r="r" b="b" t="t" l="l"/>
            <a:pathLst>
              <a:path h="765561" w="765561">
                <a:moveTo>
                  <a:pt x="0" y="0"/>
                </a:moveTo>
                <a:lnTo>
                  <a:pt x="765561" y="0"/>
                </a:lnTo>
                <a:lnTo>
                  <a:pt x="765561" y="765561"/>
                </a:lnTo>
                <a:lnTo>
                  <a:pt x="0" y="76556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3634160" y="5056350"/>
            <a:ext cx="804659" cy="804659"/>
          </a:xfrm>
          <a:custGeom>
            <a:avLst/>
            <a:gdLst/>
            <a:ahLst/>
            <a:cxnLst/>
            <a:rect r="r" b="b" t="t" l="l"/>
            <a:pathLst>
              <a:path h="804659" w="804659">
                <a:moveTo>
                  <a:pt x="0" y="0"/>
                </a:moveTo>
                <a:lnTo>
                  <a:pt x="804660" y="0"/>
                </a:lnTo>
                <a:lnTo>
                  <a:pt x="804660" y="804659"/>
                </a:lnTo>
                <a:lnTo>
                  <a:pt x="0" y="80465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3673259" y="6603959"/>
            <a:ext cx="765561" cy="765561"/>
          </a:xfrm>
          <a:custGeom>
            <a:avLst/>
            <a:gdLst/>
            <a:ahLst/>
            <a:cxnLst/>
            <a:rect r="r" b="b" t="t" l="l"/>
            <a:pathLst>
              <a:path h="765561" w="765561">
                <a:moveTo>
                  <a:pt x="0" y="0"/>
                </a:moveTo>
                <a:lnTo>
                  <a:pt x="765561" y="0"/>
                </a:lnTo>
                <a:lnTo>
                  <a:pt x="765561" y="765561"/>
                </a:lnTo>
                <a:lnTo>
                  <a:pt x="0" y="7655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820648" y="549046"/>
            <a:ext cx="6134371" cy="885190"/>
          </a:xfrm>
          <a:prstGeom prst="rect">
            <a:avLst/>
          </a:prstGeom>
        </p:spPr>
        <p:txBody>
          <a:bodyPr anchor="t" rtlCol="false" tIns="0" lIns="0" bIns="0" rIns="0">
            <a:spAutoFit/>
          </a:bodyPr>
          <a:lstStyle/>
          <a:p>
            <a:pPr algn="l">
              <a:lnSpc>
                <a:spcPts val="5600"/>
              </a:lnSpc>
            </a:pPr>
            <a:r>
              <a:rPr lang="en-US" sz="5600" spc="-308">
                <a:solidFill>
                  <a:srgbClr val="3E3F54"/>
                </a:solidFill>
                <a:latin typeface="Heading Now 71-78"/>
                <a:ea typeface="Heading Now 71-78"/>
                <a:cs typeface="Heading Now 71-78"/>
                <a:sym typeface="Heading Now 71-78"/>
              </a:rPr>
              <a:t>Next Steps</a:t>
            </a:r>
          </a:p>
        </p:txBody>
      </p:sp>
      <p:sp>
        <p:nvSpPr>
          <p:cNvPr name="TextBox 13" id="13"/>
          <p:cNvSpPr txBox="true"/>
          <p:nvPr/>
        </p:nvSpPr>
        <p:spPr>
          <a:xfrm rot="0">
            <a:off x="4969330" y="5065875"/>
            <a:ext cx="9289287" cy="995340"/>
          </a:xfrm>
          <a:prstGeom prst="rect">
            <a:avLst/>
          </a:prstGeom>
        </p:spPr>
        <p:txBody>
          <a:bodyPr anchor="t" rtlCol="false" tIns="0" lIns="0" bIns="0" rIns="0">
            <a:spAutoFit/>
          </a:bodyPr>
          <a:lstStyle/>
          <a:p>
            <a:pPr algn="just">
              <a:lnSpc>
                <a:spcPts val="3990"/>
              </a:lnSpc>
            </a:pPr>
            <a:r>
              <a:rPr lang="en-US" sz="3325">
                <a:solidFill>
                  <a:srgbClr val="3E3F54"/>
                </a:solidFill>
                <a:latin typeface="TT Firs Neue"/>
                <a:ea typeface="TT Firs Neue"/>
                <a:cs typeface="TT Firs Neue"/>
                <a:sym typeface="TT Firs Neue"/>
              </a:rPr>
              <a:t>Develop a database to store the existing data </a:t>
            </a:r>
          </a:p>
          <a:p>
            <a:pPr algn="just">
              <a:lnSpc>
                <a:spcPts val="3990"/>
              </a:lnSpc>
            </a:pPr>
            <a:r>
              <a:rPr lang="en-US" sz="3325">
                <a:solidFill>
                  <a:srgbClr val="3E3F54"/>
                </a:solidFill>
                <a:latin typeface="TT Firs Neue"/>
                <a:ea typeface="TT Firs Neue"/>
                <a:cs typeface="TT Firs Neue"/>
                <a:sym typeface="TT Firs Neue"/>
              </a:rPr>
              <a:t>and future reviews</a:t>
            </a:r>
          </a:p>
        </p:txBody>
      </p:sp>
      <p:sp>
        <p:nvSpPr>
          <p:cNvPr name="TextBox 14" id="14"/>
          <p:cNvSpPr txBox="true"/>
          <p:nvPr/>
        </p:nvSpPr>
        <p:spPr>
          <a:xfrm rot="0">
            <a:off x="4969330" y="3559586"/>
            <a:ext cx="9845297" cy="1000125"/>
          </a:xfrm>
          <a:prstGeom prst="rect">
            <a:avLst/>
          </a:prstGeom>
        </p:spPr>
        <p:txBody>
          <a:bodyPr anchor="t" rtlCol="false" tIns="0" lIns="0" bIns="0" rIns="0">
            <a:spAutoFit/>
          </a:bodyPr>
          <a:lstStyle/>
          <a:p>
            <a:pPr algn="l">
              <a:lnSpc>
                <a:spcPts val="3990"/>
              </a:lnSpc>
            </a:pPr>
            <a:r>
              <a:rPr lang="en-US" sz="3325">
                <a:solidFill>
                  <a:srgbClr val="3E3F54"/>
                </a:solidFill>
                <a:latin typeface="TT Firs Neue"/>
                <a:ea typeface="TT Firs Neue"/>
                <a:cs typeface="TT Firs Neue"/>
                <a:sym typeface="TT Firs Neue"/>
              </a:rPr>
              <a:t>Use open-ended feedba</a:t>
            </a:r>
            <a:r>
              <a:rPr lang="en-US" sz="3325">
                <a:solidFill>
                  <a:srgbClr val="3E3F54"/>
                </a:solidFill>
                <a:latin typeface="TT Firs Neue"/>
                <a:ea typeface="TT Firs Neue"/>
                <a:cs typeface="TT Firs Neue"/>
                <a:sym typeface="TT Firs Neue"/>
              </a:rPr>
              <a:t>ck to support keyword search and course recommendations</a:t>
            </a:r>
          </a:p>
        </p:txBody>
      </p:sp>
      <p:sp>
        <p:nvSpPr>
          <p:cNvPr name="TextBox 15" id="15"/>
          <p:cNvSpPr txBox="true"/>
          <p:nvPr/>
        </p:nvSpPr>
        <p:spPr>
          <a:xfrm rot="0">
            <a:off x="4969330" y="6575565"/>
            <a:ext cx="10582313" cy="1000125"/>
          </a:xfrm>
          <a:prstGeom prst="rect">
            <a:avLst/>
          </a:prstGeom>
        </p:spPr>
        <p:txBody>
          <a:bodyPr anchor="t" rtlCol="false" tIns="0" lIns="0" bIns="0" rIns="0">
            <a:spAutoFit/>
          </a:bodyPr>
          <a:lstStyle/>
          <a:p>
            <a:pPr algn="l">
              <a:lnSpc>
                <a:spcPts val="3990"/>
              </a:lnSpc>
            </a:pPr>
            <a:r>
              <a:rPr lang="en-US" sz="3325">
                <a:solidFill>
                  <a:srgbClr val="3E3F54"/>
                </a:solidFill>
                <a:latin typeface="TT Firs Neue"/>
                <a:ea typeface="TT Firs Neue"/>
                <a:cs typeface="TT Firs Neue"/>
                <a:sym typeface="TT Firs Neue"/>
              </a:rPr>
              <a:t>Store reviews in a database that updates automatically when users submit reviews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88295" y="2409644"/>
            <a:ext cx="13711411" cy="3894273"/>
            <a:chOff x="0" y="0"/>
            <a:chExt cx="3611236" cy="1025652"/>
          </a:xfrm>
        </p:grpSpPr>
        <p:sp>
          <p:nvSpPr>
            <p:cNvPr name="Freeform 3" id="3"/>
            <p:cNvSpPr/>
            <p:nvPr/>
          </p:nvSpPr>
          <p:spPr>
            <a:xfrm flipH="false" flipV="false" rot="0">
              <a:off x="0" y="0"/>
              <a:ext cx="3611236" cy="1025652"/>
            </a:xfrm>
            <a:custGeom>
              <a:avLst/>
              <a:gdLst/>
              <a:ahLst/>
              <a:cxnLst/>
              <a:rect r="r" b="b" t="t" l="l"/>
              <a:pathLst>
                <a:path h="1025652" w="3611236">
                  <a:moveTo>
                    <a:pt x="28796" y="0"/>
                  </a:moveTo>
                  <a:lnTo>
                    <a:pt x="3582439" y="0"/>
                  </a:lnTo>
                  <a:cubicBezTo>
                    <a:pt x="3590077" y="0"/>
                    <a:pt x="3597401" y="3034"/>
                    <a:pt x="3602801" y="8434"/>
                  </a:cubicBezTo>
                  <a:cubicBezTo>
                    <a:pt x="3608202" y="13835"/>
                    <a:pt x="3611236" y="21159"/>
                    <a:pt x="3611236" y="28796"/>
                  </a:cubicBezTo>
                  <a:lnTo>
                    <a:pt x="3611236" y="996856"/>
                  </a:lnTo>
                  <a:cubicBezTo>
                    <a:pt x="3611236" y="1004493"/>
                    <a:pt x="3608202" y="1011818"/>
                    <a:pt x="3602801" y="1017218"/>
                  </a:cubicBezTo>
                  <a:cubicBezTo>
                    <a:pt x="3597401" y="1022618"/>
                    <a:pt x="3590077" y="1025652"/>
                    <a:pt x="3582439" y="1025652"/>
                  </a:cubicBezTo>
                  <a:lnTo>
                    <a:pt x="28796" y="1025652"/>
                  </a:lnTo>
                  <a:cubicBezTo>
                    <a:pt x="21159" y="1025652"/>
                    <a:pt x="13835" y="1022618"/>
                    <a:pt x="8434" y="1017218"/>
                  </a:cubicBezTo>
                  <a:cubicBezTo>
                    <a:pt x="3034" y="1011818"/>
                    <a:pt x="0" y="1004493"/>
                    <a:pt x="0" y="996856"/>
                  </a:cubicBezTo>
                  <a:lnTo>
                    <a:pt x="0" y="28796"/>
                  </a:lnTo>
                  <a:cubicBezTo>
                    <a:pt x="0" y="21159"/>
                    <a:pt x="3034" y="13835"/>
                    <a:pt x="8434" y="8434"/>
                  </a:cubicBezTo>
                  <a:cubicBezTo>
                    <a:pt x="13835" y="3034"/>
                    <a:pt x="21159" y="0"/>
                    <a:pt x="28796" y="0"/>
                  </a:cubicBezTo>
                  <a:close/>
                </a:path>
              </a:pathLst>
            </a:custGeom>
            <a:solidFill>
              <a:srgbClr val="FBC76F"/>
            </a:solidFill>
          </p:spPr>
        </p:sp>
        <p:sp>
          <p:nvSpPr>
            <p:cNvPr name="TextBox 4" id="4"/>
            <p:cNvSpPr txBox="true"/>
            <p:nvPr/>
          </p:nvSpPr>
          <p:spPr>
            <a:xfrm>
              <a:off x="0" y="-47625"/>
              <a:ext cx="3611236" cy="1073277"/>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7700388" y="1959854"/>
            <a:ext cx="1344021" cy="1344021"/>
          </a:xfrm>
          <a:custGeom>
            <a:avLst/>
            <a:gdLst/>
            <a:ahLst/>
            <a:cxnLst/>
            <a:rect r="r" b="b" t="t" l="l"/>
            <a:pathLst>
              <a:path h="1344021" w="1344021">
                <a:moveTo>
                  <a:pt x="0" y="0"/>
                </a:moveTo>
                <a:lnTo>
                  <a:pt x="1344022" y="0"/>
                </a:lnTo>
                <a:lnTo>
                  <a:pt x="1344022" y="1344022"/>
                </a:lnTo>
                <a:lnTo>
                  <a:pt x="0" y="1344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5302121" y="3548744"/>
            <a:ext cx="7484576" cy="1568449"/>
          </a:xfrm>
          <a:prstGeom prst="rect">
            <a:avLst/>
          </a:prstGeom>
        </p:spPr>
        <p:txBody>
          <a:bodyPr anchor="t" rtlCol="false" tIns="0" lIns="0" bIns="0" rIns="0">
            <a:spAutoFit/>
          </a:bodyPr>
          <a:lstStyle/>
          <a:p>
            <a:pPr algn="ctr">
              <a:lnSpc>
                <a:spcPts val="9999"/>
              </a:lnSpc>
            </a:pPr>
            <a:r>
              <a:rPr lang="en-US" sz="9999" spc="-549">
                <a:solidFill>
                  <a:srgbClr val="3E3F54"/>
                </a:solidFill>
                <a:latin typeface="Heading Now 71-78"/>
                <a:ea typeface="Heading Now 71-78"/>
                <a:cs typeface="Heading Now 71-78"/>
                <a:sym typeface="Heading Now 71-78"/>
              </a:rPr>
              <a:t>Thank you!</a:t>
            </a:r>
          </a:p>
        </p:txBody>
      </p:sp>
      <p:sp>
        <p:nvSpPr>
          <p:cNvPr name="Freeform 7" id="7"/>
          <p:cNvSpPr/>
          <p:nvPr/>
        </p:nvSpPr>
        <p:spPr>
          <a:xfrm flipH="false" flipV="false" rot="0">
            <a:off x="8230457" y="2631865"/>
            <a:ext cx="1627905" cy="488782"/>
          </a:xfrm>
          <a:custGeom>
            <a:avLst/>
            <a:gdLst/>
            <a:ahLst/>
            <a:cxnLst/>
            <a:rect r="r" b="b" t="t" l="l"/>
            <a:pathLst>
              <a:path h="488782" w="1627905">
                <a:moveTo>
                  <a:pt x="0" y="0"/>
                </a:moveTo>
                <a:lnTo>
                  <a:pt x="1627905" y="0"/>
                </a:lnTo>
                <a:lnTo>
                  <a:pt x="1627905" y="488782"/>
                </a:lnTo>
                <a:lnTo>
                  <a:pt x="0" y="488782"/>
                </a:lnTo>
                <a:lnTo>
                  <a:pt x="0" y="0"/>
                </a:lnTo>
                <a:close/>
              </a:path>
            </a:pathLst>
          </a:custGeom>
          <a:blipFill>
            <a:blip r:embed="rId4">
              <a:extLst>
                <a:ext uri="{96DAC541-7B7A-43D3-8B79-37D633B846F1}">
                  <asvg:svgBlip xmlns:asvg="http://schemas.microsoft.com/office/drawing/2016/SVG/main" r:embed="rId5"/>
                </a:ext>
              </a:extLst>
            </a:blip>
            <a:stretch>
              <a:fillRect l="0" t="0" r="-89251" b="-454409"/>
            </a:stretch>
          </a:blipFill>
          <a:ln cap="sq">
            <a:noFill/>
            <a:prstDash val="solid"/>
            <a:miter/>
          </a:ln>
        </p:spPr>
      </p:sp>
      <p:sp>
        <p:nvSpPr>
          <p:cNvPr name="Freeform 8" id="8"/>
          <p:cNvSpPr/>
          <p:nvPr/>
        </p:nvSpPr>
        <p:spPr>
          <a:xfrm flipH="false" flipV="false" rot="0">
            <a:off x="14359276" y="3120647"/>
            <a:ext cx="584000" cy="580837"/>
          </a:xfrm>
          <a:custGeom>
            <a:avLst/>
            <a:gdLst/>
            <a:ahLst/>
            <a:cxnLst/>
            <a:rect r="r" b="b" t="t" l="l"/>
            <a:pathLst>
              <a:path h="580837" w="584000">
                <a:moveTo>
                  <a:pt x="0" y="0"/>
                </a:moveTo>
                <a:lnTo>
                  <a:pt x="584000" y="0"/>
                </a:lnTo>
                <a:lnTo>
                  <a:pt x="584000" y="580837"/>
                </a:lnTo>
                <a:lnTo>
                  <a:pt x="0" y="5808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9" id="9"/>
          <p:cNvSpPr/>
          <p:nvPr/>
        </p:nvSpPr>
        <p:spPr>
          <a:xfrm flipH="false" flipV="false" rot="0">
            <a:off x="6593900" y="5690956"/>
            <a:ext cx="1636557" cy="274805"/>
          </a:xfrm>
          <a:custGeom>
            <a:avLst/>
            <a:gdLst/>
            <a:ahLst/>
            <a:cxnLst/>
            <a:rect r="r" b="b" t="t" l="l"/>
            <a:pathLst>
              <a:path h="274805" w="1636557">
                <a:moveTo>
                  <a:pt x="0" y="0"/>
                </a:moveTo>
                <a:lnTo>
                  <a:pt x="1636557" y="0"/>
                </a:lnTo>
                <a:lnTo>
                  <a:pt x="1636557" y="274805"/>
                </a:lnTo>
                <a:lnTo>
                  <a:pt x="0" y="2748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1956945" y="5510899"/>
            <a:ext cx="4948195" cy="4311114"/>
          </a:xfrm>
          <a:custGeom>
            <a:avLst/>
            <a:gdLst/>
            <a:ahLst/>
            <a:cxnLst/>
            <a:rect r="r" b="b" t="t" l="l"/>
            <a:pathLst>
              <a:path h="4311114" w="4948195">
                <a:moveTo>
                  <a:pt x="0" y="0"/>
                </a:moveTo>
                <a:lnTo>
                  <a:pt x="4948195" y="0"/>
                </a:lnTo>
                <a:lnTo>
                  <a:pt x="4948195" y="4311115"/>
                </a:lnTo>
                <a:lnTo>
                  <a:pt x="0" y="431111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1" id="11"/>
          <p:cNvSpPr/>
          <p:nvPr/>
        </p:nvSpPr>
        <p:spPr>
          <a:xfrm flipH="false" flipV="false" rot="0">
            <a:off x="12559303" y="5707214"/>
            <a:ext cx="3518154" cy="4114800"/>
          </a:xfrm>
          <a:custGeom>
            <a:avLst/>
            <a:gdLst/>
            <a:ahLst/>
            <a:cxnLst/>
            <a:rect r="r" b="b" t="t" l="l"/>
            <a:pathLst>
              <a:path h="4114800" w="3518154">
                <a:moveTo>
                  <a:pt x="0" y="0"/>
                </a:moveTo>
                <a:lnTo>
                  <a:pt x="3518154" y="0"/>
                </a:lnTo>
                <a:lnTo>
                  <a:pt x="3518154"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2" id="12"/>
          <p:cNvSpPr/>
          <p:nvPr/>
        </p:nvSpPr>
        <p:spPr>
          <a:xfrm flipH="false" flipV="false" rot="0">
            <a:off x="11754490" y="5510899"/>
            <a:ext cx="1609626" cy="832311"/>
          </a:xfrm>
          <a:custGeom>
            <a:avLst/>
            <a:gdLst/>
            <a:ahLst/>
            <a:cxnLst/>
            <a:rect r="r" b="b" t="t" l="l"/>
            <a:pathLst>
              <a:path h="832311" w="1609626">
                <a:moveTo>
                  <a:pt x="0" y="0"/>
                </a:moveTo>
                <a:lnTo>
                  <a:pt x="1609626" y="0"/>
                </a:lnTo>
                <a:lnTo>
                  <a:pt x="1609626" y="832311"/>
                </a:lnTo>
                <a:lnTo>
                  <a:pt x="0" y="83231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6585005" y="8040569"/>
            <a:ext cx="963058" cy="946204"/>
          </a:xfrm>
          <a:custGeom>
            <a:avLst/>
            <a:gdLst/>
            <a:ahLst/>
            <a:cxnLst/>
            <a:rect r="r" b="b" t="t" l="l"/>
            <a:pathLst>
              <a:path h="946204" w="963058">
                <a:moveTo>
                  <a:pt x="0" y="0"/>
                </a:moveTo>
                <a:lnTo>
                  <a:pt x="963058" y="0"/>
                </a:lnTo>
                <a:lnTo>
                  <a:pt x="963058" y="946205"/>
                </a:lnTo>
                <a:lnTo>
                  <a:pt x="0" y="94620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DAHK5ph46GE</dc:identifier>
  <dcterms:modified xsi:type="dcterms:W3CDTF">2011-08-01T06:04:30Z</dcterms:modified>
  <cp:revision>1</cp:revision>
  <dc:title>IMT 542</dc:title>
</cp:coreProperties>
</file>